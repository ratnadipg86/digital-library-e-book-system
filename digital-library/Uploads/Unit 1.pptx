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handoutMasterIdLst>
    <p:handoutMasterId r:id="rId82"/>
  </p:handoutMasterIdLst>
  <p:sldIdLst>
    <p:sldId id="256" r:id="rId2"/>
    <p:sldId id="302" r:id="rId3"/>
    <p:sldId id="303" r:id="rId4"/>
    <p:sldId id="257" r:id="rId5"/>
    <p:sldId id="258" r:id="rId6"/>
    <p:sldId id="305" r:id="rId7"/>
    <p:sldId id="306" r:id="rId8"/>
    <p:sldId id="259" r:id="rId9"/>
    <p:sldId id="304" r:id="rId10"/>
    <p:sldId id="260" r:id="rId11"/>
    <p:sldId id="261" r:id="rId12"/>
    <p:sldId id="322" r:id="rId13"/>
    <p:sldId id="262" r:id="rId14"/>
    <p:sldId id="307" r:id="rId15"/>
    <p:sldId id="308" r:id="rId16"/>
    <p:sldId id="263" r:id="rId17"/>
    <p:sldId id="309" r:id="rId18"/>
    <p:sldId id="264" r:id="rId19"/>
    <p:sldId id="265" r:id="rId20"/>
    <p:sldId id="266" r:id="rId21"/>
    <p:sldId id="267" r:id="rId22"/>
    <p:sldId id="268" r:id="rId23"/>
    <p:sldId id="270" r:id="rId24"/>
    <p:sldId id="271" r:id="rId25"/>
    <p:sldId id="269" r:id="rId26"/>
    <p:sldId id="310" r:id="rId27"/>
    <p:sldId id="311" r:id="rId28"/>
    <p:sldId id="273" r:id="rId29"/>
    <p:sldId id="317" r:id="rId30"/>
    <p:sldId id="315" r:id="rId31"/>
    <p:sldId id="314" r:id="rId32"/>
    <p:sldId id="319" r:id="rId33"/>
    <p:sldId id="320" r:id="rId34"/>
    <p:sldId id="274" r:id="rId35"/>
    <p:sldId id="323" r:id="rId36"/>
    <p:sldId id="324" r:id="rId37"/>
    <p:sldId id="326" r:id="rId38"/>
    <p:sldId id="325" r:id="rId39"/>
    <p:sldId id="327" r:id="rId40"/>
    <p:sldId id="276" r:id="rId41"/>
    <p:sldId id="333" r:id="rId42"/>
    <p:sldId id="332" r:id="rId43"/>
    <p:sldId id="334" r:id="rId44"/>
    <p:sldId id="335" r:id="rId45"/>
    <p:sldId id="329" r:id="rId46"/>
    <p:sldId id="330" r:id="rId47"/>
    <p:sldId id="279" r:id="rId48"/>
    <p:sldId id="337" r:id="rId49"/>
    <p:sldId id="338" r:id="rId50"/>
    <p:sldId id="339" r:id="rId51"/>
    <p:sldId id="340" r:id="rId52"/>
    <p:sldId id="341" r:id="rId53"/>
    <p:sldId id="336" r:id="rId54"/>
    <p:sldId id="282" r:id="rId55"/>
    <p:sldId id="342" r:id="rId56"/>
    <p:sldId id="283" r:id="rId57"/>
    <p:sldId id="284" r:id="rId58"/>
    <p:sldId id="285" r:id="rId59"/>
    <p:sldId id="286" r:id="rId60"/>
    <p:sldId id="288" r:id="rId61"/>
    <p:sldId id="289" r:id="rId62"/>
    <p:sldId id="343" r:id="rId63"/>
    <p:sldId id="290" r:id="rId64"/>
    <p:sldId id="344" r:id="rId65"/>
    <p:sldId id="345" r:id="rId66"/>
    <p:sldId id="291" r:id="rId67"/>
    <p:sldId id="292" r:id="rId68"/>
    <p:sldId id="346" r:id="rId69"/>
    <p:sldId id="348" r:id="rId70"/>
    <p:sldId id="347" r:id="rId71"/>
    <p:sldId id="293" r:id="rId72"/>
    <p:sldId id="294" r:id="rId73"/>
    <p:sldId id="296" r:id="rId74"/>
    <p:sldId id="295" r:id="rId75"/>
    <p:sldId id="298" r:id="rId76"/>
    <p:sldId id="349" r:id="rId77"/>
    <p:sldId id="299" r:id="rId78"/>
    <p:sldId id="350" r:id="rId79"/>
    <p:sldId id="301" r:id="rId80"/>
    <p:sldId id="300"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296" y="-5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handoutMaster" Target="handoutMasters/handout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53FFBF1-DB68-46EC-AE28-1491B4705FF5}" type="datetimeFigureOut">
              <a:rPr lang="en-US" smtClean="0"/>
              <a:pPr/>
              <a:t>1/16/2024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F32A3F0-D460-499C-9557-AD94D180D1CF}"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DB90241-4383-4335-9EBE-CA9EAA1E7D16}" type="datetimeFigureOut">
              <a:rPr lang="en-US" smtClean="0"/>
              <a:pPr/>
              <a:t>1/16/2024</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A702074B-E297-4D31-B875-560F3D2298CE}"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DB90241-4383-4335-9EBE-CA9EAA1E7D16}"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2074B-E297-4D31-B875-560F3D2298CE}"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DB90241-4383-4335-9EBE-CA9EAA1E7D16}" type="datetimeFigureOut">
              <a:rPr lang="en-US" smtClean="0"/>
              <a:pPr/>
              <a:t>1/16/2024</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A702074B-E297-4D31-B875-560F3D2298C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DB90241-4383-4335-9EBE-CA9EAA1E7D16}"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2074B-E297-4D31-B875-560F3D2298CE}"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DB90241-4383-4335-9EBE-CA9EAA1E7D16}" type="datetimeFigureOut">
              <a:rPr lang="en-US" smtClean="0"/>
              <a:pPr/>
              <a:t>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02074B-E297-4D31-B875-560F3D2298CE}"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DB90241-4383-4335-9EBE-CA9EAA1E7D16}" type="datetimeFigureOut">
              <a:rPr lang="en-US" smtClean="0"/>
              <a:pPr/>
              <a:t>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02074B-E297-4D31-B875-560F3D2298C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B90241-4383-4335-9EBE-CA9EAA1E7D16}" type="datetimeFigureOut">
              <a:rPr lang="en-US" smtClean="0"/>
              <a:pPr/>
              <a:t>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02074B-E297-4D31-B875-560F3D2298C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DB90241-4383-4335-9EBE-CA9EAA1E7D16}" type="datetimeFigureOut">
              <a:rPr lang="en-US" smtClean="0"/>
              <a:pPr/>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2074B-E297-4D31-B875-560F3D2298CE}"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DB90241-4383-4335-9EBE-CA9EAA1E7D16}" type="datetimeFigureOut">
              <a:rPr lang="en-US" smtClean="0"/>
              <a:pPr/>
              <a:t>1/16/2024</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A702074B-E297-4D31-B875-560F3D2298CE}"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DB90241-4383-4335-9EBE-CA9EAA1E7D16}"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2074B-E297-4D31-B875-560F3D2298C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DB90241-4383-4335-9EBE-CA9EAA1E7D16}" type="datetimeFigureOut">
              <a:rPr lang="en-US" smtClean="0"/>
              <a:pPr/>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2074B-E297-4D31-B875-560F3D2298C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DB90241-4383-4335-9EBE-CA9EAA1E7D16}" type="datetimeFigureOut">
              <a:rPr lang="en-US" smtClean="0"/>
              <a:pPr/>
              <a:t>1/16/2024</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A702074B-E297-4D31-B875-560F3D2298C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advantages-disadvantages.co/wp-content/uploads/2015/07/Advantages-disadvantages-of-internet.jp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hcidata.info/inet.htm" TargetMode="External"/><Relationship Id="rId2" Type="http://schemas.openxmlformats.org/officeDocument/2006/relationships/hyperlink" Target="http://www.brighthub.com/computing/enterprise-security/articles/63387.aspx" TargetMode="External"/><Relationship Id="rId1" Type="http://schemas.openxmlformats.org/officeDocument/2006/relationships/slideLayout" Target="../slideLayouts/slideLayout2.xml"/><Relationship Id="rId5" Type="http://schemas.openxmlformats.org/officeDocument/2006/relationships/hyperlink" Target="http://www.differencebetween.info/difference-between-intranet-and-extranet" TargetMode="External"/><Relationship Id="rId4" Type="http://schemas.openxmlformats.org/officeDocument/2006/relationships/hyperlink" Target="https://www.claromentis.com/blog/whats-the-difference-between-intranets-and-extranets/"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mailto:username@domainname.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www.doteasy.com/web-hosting-articles/what-is-a-dynamic-web-page.cfm" TargetMode="External"/><Relationship Id="rId2" Type="http://schemas.openxmlformats.org/officeDocument/2006/relationships/hyperlink" Target="https://www.javatpoint.com/website-static-vs-dynamic" TargetMode="External"/><Relationship Id="rId1" Type="http://schemas.openxmlformats.org/officeDocument/2006/relationships/slideLayout" Target="../slideLayouts/slideLayout2.xml"/><Relationship Id="rId6" Type="http://schemas.openxmlformats.org/officeDocument/2006/relationships/hyperlink" Target="https://www.computerhope.com/jargon/w/webpage.htm" TargetMode="External"/><Relationship Id="rId5" Type="http://schemas.openxmlformats.org/officeDocument/2006/relationships/hyperlink" Target="https://www.tutorialspoint.com/internet_technologies/web_pages.htm" TargetMode="External"/><Relationship Id="rId4" Type="http://schemas.openxmlformats.org/officeDocument/2006/relationships/hyperlink" Target="http://smallbusiness.chron.com/difference-between-dynamic-static-pages-69951.html"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www.microsoft.com/" TargetMode="External"/><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hyperlink" Target="http://www.ibm.com/"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earchnetworking.techtarget.com/definition/URL" TargetMode="External"/><Relationship Id="rId2" Type="http://schemas.openxmlformats.org/officeDocument/2006/relationships/hyperlink" Target="http://www.webopedia.com/TERM/U/URL.html" TargetMode="External"/><Relationship Id="rId1" Type="http://schemas.openxmlformats.org/officeDocument/2006/relationships/slideLayout" Target="../slideLayouts/slideLayout2.xml"/><Relationship Id="rId6" Type="http://schemas.openxmlformats.org/officeDocument/2006/relationships/hyperlink" Target="http://www.smarta.com/advice/web/business-websites/how-to-register-a-domain-name/" TargetMode="External"/><Relationship Id="rId5" Type="http://schemas.openxmlformats.org/officeDocument/2006/relationships/hyperlink" Target="http://www.wikihow.com/Register-a-Domain-Name" TargetMode="External"/><Relationship Id="rId4" Type="http://schemas.openxmlformats.org/officeDocument/2006/relationships/hyperlink" Target="https://www.lifewire.com/definition-of-uniform-resource-locator-817778"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s://en.wikipedia.org/wiki/Cross-platform" TargetMode="External"/><Relationship Id="rId2" Type="http://schemas.openxmlformats.org/officeDocument/2006/relationships/hyperlink" Target="https://en.wikipedia.org/wiki/Free_and_open-source" TargetMode="External"/><Relationship Id="rId1" Type="http://schemas.openxmlformats.org/officeDocument/2006/relationships/slideLayout" Target="../slideLayouts/slideLayout2.xml"/><Relationship Id="rId4" Type="http://schemas.openxmlformats.org/officeDocument/2006/relationships/hyperlink" Target="https://en.wikipedia.org/wiki/Web_server"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s://en.wikipedia.org/wiki/Web_browser" TargetMode="External"/><Relationship Id="rId2" Type="http://schemas.openxmlformats.org/officeDocument/2006/relationships/hyperlink" Target="http://www.webopedia.com/TERM/B/browser.html" TargetMode="External"/><Relationship Id="rId1" Type="http://schemas.openxmlformats.org/officeDocument/2006/relationships/slideLayout" Target="../slideLayouts/slideLayout2.xml"/><Relationship Id="rId6" Type="http://schemas.openxmlformats.org/officeDocument/2006/relationships/hyperlink" Target="https://en.wikipedia.org/wiki/Web_server" TargetMode="External"/><Relationship Id="rId5" Type="http://schemas.openxmlformats.org/officeDocument/2006/relationships/hyperlink" Target="http://www.fastwebhost.in/blog/what-is-web-servers-different-types-of-web-servers/" TargetMode="External"/><Relationship Id="rId4" Type="http://schemas.openxmlformats.org/officeDocument/2006/relationships/hyperlink" Target="http://study.com/academy/lesson/what-is-a-web-browser-definition-examples-quiz.html"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3581400"/>
            <a:ext cx="7854696" cy="1752600"/>
          </a:xfrm>
        </p:spPr>
        <p:txBody>
          <a:bodyPr>
            <a:normAutofit/>
          </a:bodyPr>
          <a:lstStyle/>
          <a:p>
            <a:r>
              <a:rPr lang="en-US" dirty="0" smtClean="0">
                <a:latin typeface="+mj-lt"/>
              </a:rPr>
              <a:t>By :Prof. Abhishek Mehta</a:t>
            </a:r>
          </a:p>
          <a:p>
            <a:r>
              <a:rPr lang="en-US" dirty="0" smtClean="0">
                <a:latin typeface="+mj-lt"/>
              </a:rPr>
              <a:t>Asst. Prof.</a:t>
            </a:r>
          </a:p>
          <a:p>
            <a:r>
              <a:rPr lang="en-US" dirty="0" smtClean="0">
                <a:latin typeface="+mj-lt"/>
              </a:rPr>
              <a:t>PICA- BCA</a:t>
            </a:r>
            <a:endParaRPr lang="en-US" dirty="0">
              <a:latin typeface="+mj-lt"/>
            </a:endParaRPr>
          </a:p>
        </p:txBody>
      </p:sp>
      <p:sp>
        <p:nvSpPr>
          <p:cNvPr id="2" name="Title 1"/>
          <p:cNvSpPr>
            <a:spLocks noGrp="1"/>
          </p:cNvSpPr>
          <p:nvPr>
            <p:ph type="ctrTitle"/>
          </p:nvPr>
        </p:nvSpPr>
        <p:spPr/>
        <p:txBody>
          <a:bodyPr/>
          <a:lstStyle/>
          <a:p>
            <a:r>
              <a:rPr lang="en-US" dirty="0" smtClean="0"/>
              <a:t>Unit 1</a:t>
            </a:r>
            <a:br>
              <a:rPr lang="en-US" dirty="0" smtClean="0"/>
            </a:br>
            <a:r>
              <a:rPr lang="en-US" dirty="0" smtClean="0"/>
              <a:t>Internet and WWW</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1026" name="Picture 2" descr="C:\Users\Parul\Desktop\connectingtotheinternet_image.png"/>
          <p:cNvPicPr>
            <a:picLocks noGrp="1" noChangeAspect="1" noChangeArrowheads="1"/>
          </p:cNvPicPr>
          <p:nvPr>
            <p:ph sz="quarter" idx="1"/>
          </p:nvPr>
        </p:nvPicPr>
        <p:blipFill>
          <a:blip r:embed="rId2" cstate="print"/>
          <a:stretch>
            <a:fillRect/>
          </a:stretch>
        </p:blipFill>
        <p:spPr bwMode="auto">
          <a:xfrm>
            <a:off x="1520687" y="1447800"/>
            <a:ext cx="6559826" cy="457200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IN" dirty="0" smtClean="0"/>
              <a:t>The Internet is a </a:t>
            </a:r>
            <a:r>
              <a:rPr lang="en-IN" b="1" dirty="0" smtClean="0"/>
              <a:t>global network </a:t>
            </a:r>
            <a:r>
              <a:rPr lang="en-IN" dirty="0" smtClean="0"/>
              <a:t>of billions of computers and other electronic devices. </a:t>
            </a:r>
          </a:p>
          <a:p>
            <a:r>
              <a:rPr lang="en-IN" dirty="0" smtClean="0"/>
              <a:t>With the Internet, it's possible to access almost any information, communicate with anyone else in the world,</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248400"/>
          </a:xfrm>
        </p:spPr>
        <p:txBody>
          <a:bodyPr>
            <a:normAutofit/>
          </a:bodyPr>
          <a:lstStyle/>
          <a:p>
            <a:pPr algn="just">
              <a:buNone/>
            </a:pPr>
            <a:r>
              <a:rPr lang="en-US" sz="2400" b="1" dirty="0" smtClean="0"/>
              <a:t>What </a:t>
            </a:r>
            <a:r>
              <a:rPr lang="en-US" sz="2400" b="1" smtClean="0"/>
              <a:t>is Internet</a:t>
            </a:r>
            <a:r>
              <a:rPr lang="en-US" sz="2400" b="1" dirty="0" smtClean="0"/>
              <a:t>?</a:t>
            </a:r>
          </a:p>
          <a:p>
            <a:pPr algn="just">
              <a:buNone/>
            </a:pPr>
            <a:endParaRPr lang="en-US" sz="2400" b="1" dirty="0" smtClean="0"/>
          </a:p>
          <a:p>
            <a:pPr algn="just"/>
            <a:r>
              <a:rPr lang="en-US" sz="2000" dirty="0" smtClean="0"/>
              <a:t>The </a:t>
            </a:r>
            <a:r>
              <a:rPr lang="en-US" sz="2000" b="1" dirty="0" smtClean="0"/>
              <a:t>Internet</a:t>
            </a:r>
            <a:r>
              <a:rPr lang="en-US" sz="2000" dirty="0" smtClean="0"/>
              <a:t> is a global collection of computer networks that are linked together by devices called routers and use a common set of protocols for data transmission known as TCP/IP (transmission control protocol / </a:t>
            </a:r>
            <a:r>
              <a:rPr lang="en-US" sz="2000" b="1" dirty="0" smtClean="0"/>
              <a:t>Internet</a:t>
            </a:r>
            <a:r>
              <a:rPr lang="en-US" sz="2000" dirty="0" smtClean="0"/>
              <a:t> protocol). </a:t>
            </a:r>
          </a:p>
          <a:p>
            <a:pPr algn="just"/>
            <a:r>
              <a:rPr lang="en-US" sz="2000" dirty="0" smtClean="0"/>
              <a:t>The primary purpose of the </a:t>
            </a:r>
            <a:r>
              <a:rPr lang="en-US" sz="2000" b="1" dirty="0" smtClean="0"/>
              <a:t>Internet</a:t>
            </a:r>
            <a:r>
              <a:rPr lang="en-US" sz="2000" dirty="0" smtClean="0"/>
              <a:t> is to facilitate the sharing of information.</a:t>
            </a:r>
          </a:p>
          <a:p>
            <a:pPr algn="just"/>
            <a:r>
              <a:rPr lang="en-US" sz="2000" dirty="0" smtClean="0"/>
              <a:t> A global computer network providing a variety of information and communication facilities, consisting of interconnected networks using standardized communication protocols.</a:t>
            </a:r>
          </a:p>
          <a:p>
            <a:pPr algn="just"/>
            <a:r>
              <a:rPr lang="en-US" sz="2000" dirty="0" smtClean="0"/>
              <a:t>The Internet is a </a:t>
            </a:r>
            <a:r>
              <a:rPr lang="en-US" sz="2000" b="1" dirty="0" smtClean="0"/>
              <a:t>global network </a:t>
            </a:r>
            <a:r>
              <a:rPr lang="en-US" sz="2000" dirty="0" smtClean="0"/>
              <a:t>of billions of computers and other electronic devices. With the Internet, it's possible to access almost any information, communicate with anyone else in the world, and do much more.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248400"/>
          </a:xfrm>
        </p:spPr>
        <p:txBody>
          <a:bodyPr>
            <a:normAutofit/>
          </a:bodyPr>
          <a:lstStyle/>
          <a:p>
            <a:endParaRPr lang="en-US" sz="2000" dirty="0" smtClean="0"/>
          </a:p>
          <a:p>
            <a:r>
              <a:rPr lang="en-US" sz="2000" dirty="0" smtClean="0"/>
              <a:t>Internet is defined as an Information super Highway, to access information over the web. However, It can be defined in many ways as follows:</a:t>
            </a:r>
          </a:p>
          <a:p>
            <a:pPr lvl="1"/>
            <a:r>
              <a:rPr lang="en-US" sz="1800" dirty="0" smtClean="0"/>
              <a:t>Internet is a world-wide global system of interconnected computer networks.</a:t>
            </a:r>
          </a:p>
          <a:p>
            <a:pPr lvl="1"/>
            <a:r>
              <a:rPr lang="en-US" sz="1800" dirty="0" smtClean="0"/>
              <a:t>Internet uses the standard Internet Protocol (TCP/IP).</a:t>
            </a:r>
          </a:p>
          <a:p>
            <a:pPr lvl="1"/>
            <a:r>
              <a:rPr lang="en-US" sz="1800" dirty="0" smtClean="0"/>
              <a:t>Every computer in internet is identified by a unique IP address.</a:t>
            </a:r>
          </a:p>
          <a:p>
            <a:pPr lvl="1"/>
            <a:r>
              <a:rPr lang="en-US" sz="1800" dirty="0" smtClean="0"/>
              <a:t>IP Address is a unique set of numbers (such as 110.22.33.114) which identifies a computer location.</a:t>
            </a:r>
          </a:p>
          <a:p>
            <a:pPr lvl="1"/>
            <a:r>
              <a:rPr lang="en-US" sz="1800" dirty="0" smtClean="0"/>
              <a:t>A special computer DNS (Domain Name Server) is used to give name to the IP Address so that user can locate a computer by a name.</a:t>
            </a:r>
          </a:p>
          <a:p>
            <a:pPr lvl="1"/>
            <a:r>
              <a:rPr lang="en-US" sz="1800" dirty="0" smtClean="0"/>
              <a:t>For example, a DNS server will resolve a name </a:t>
            </a:r>
            <a:r>
              <a:rPr lang="en-US" sz="1800" b="1" dirty="0" smtClean="0"/>
              <a:t>http://www.tutorialspoint.com</a:t>
            </a:r>
            <a:r>
              <a:rPr lang="en-US" sz="1800" dirty="0" smtClean="0"/>
              <a:t> to a particular IP address to uniquely identify the computer on which this website is hosted.</a:t>
            </a:r>
          </a:p>
          <a:p>
            <a:pPr lvl="1"/>
            <a:r>
              <a:rPr lang="en-US" sz="1800" dirty="0" smtClean="0"/>
              <a:t>Internet is accessible to every user all over the world.</a:t>
            </a:r>
          </a:p>
          <a:p>
            <a:pPr lvl="1"/>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286512"/>
          </a:xfrm>
        </p:spPr>
        <p:txBody>
          <a:bodyPr>
            <a:normAutofit fontScale="90000"/>
          </a:bodyPr>
          <a:lstStyle/>
          <a:p>
            <a:r>
              <a:rPr lang="en-US" dirty="0" smtClean="0"/>
              <a:t>Some attributes</a:t>
            </a:r>
            <a:endParaRPr lang="en-IN" dirty="0"/>
          </a:p>
        </p:txBody>
      </p:sp>
      <p:sp>
        <p:nvSpPr>
          <p:cNvPr id="3" name="Content Placeholder 2"/>
          <p:cNvSpPr>
            <a:spLocks noGrp="1"/>
          </p:cNvSpPr>
          <p:nvPr>
            <p:ph sz="quarter" idx="1"/>
          </p:nvPr>
        </p:nvSpPr>
        <p:spPr>
          <a:xfrm>
            <a:off x="457200" y="1143000"/>
            <a:ext cx="8229600" cy="5181600"/>
          </a:xfrm>
        </p:spPr>
        <p:txBody>
          <a:bodyPr>
            <a:normAutofit/>
          </a:bodyPr>
          <a:lstStyle/>
          <a:p>
            <a:r>
              <a:rPr lang="en-IN" sz="2000" b="1" dirty="0" smtClean="0"/>
              <a:t>TCP/IP protocols </a:t>
            </a:r>
          </a:p>
          <a:p>
            <a:r>
              <a:rPr lang="en-IN" sz="2000" dirty="0" smtClean="0"/>
              <a:t/>
            </a:r>
            <a:br>
              <a:rPr lang="en-IN" sz="2000" dirty="0" smtClean="0"/>
            </a:br>
            <a:r>
              <a:rPr lang="en-IN" sz="2000" dirty="0" smtClean="0"/>
              <a:t>In order for a computer to communicate on the Internet, a set of rules or protocols computers must follow to exchange messages was developed. The two most important protocols allowing computers to transmit data on the Internet are Transmission Control Protocol (TCP) and Internet Protocol (IP). With these protocols, virtually all computers can communicate with each other</a:t>
            </a:r>
            <a:r>
              <a:rPr lang="en-IN" sz="2000" dirty="0" smtClean="0"/>
              <a:t>.</a:t>
            </a:r>
          </a:p>
          <a:p>
            <a:r>
              <a:rPr lang="en-IN" sz="2000" b="1" dirty="0" smtClean="0"/>
              <a:t>Domain name system </a:t>
            </a:r>
          </a:p>
          <a:p>
            <a:r>
              <a:rPr lang="en-IN" sz="2000" dirty="0" smtClean="0"/>
              <a:t/>
            </a:r>
            <a:br>
              <a:rPr lang="en-IN" sz="2000" dirty="0" smtClean="0"/>
            </a:br>
            <a:r>
              <a:rPr lang="en-IN" sz="2000" dirty="0" smtClean="0"/>
              <a:t>An Internet address has four fields with numbers that are separated by periods or dots. This type of address is known as an IP address. Rather than have the user remember long strings of numbers, the Domain Name System (DNS) was developed to translate the numerical addresses into words. For example, the address fcit.usf.edu is really 131.247.120.10.</a:t>
            </a:r>
            <a:endParaRPr lang="en-I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62000"/>
            <a:ext cx="8229600" cy="5562600"/>
          </a:xfrm>
        </p:spPr>
        <p:txBody>
          <a:bodyPr>
            <a:normAutofit/>
          </a:bodyPr>
          <a:lstStyle/>
          <a:p>
            <a:r>
              <a:rPr lang="en-IN" b="1" dirty="0" smtClean="0"/>
              <a:t>URLs</a:t>
            </a:r>
            <a:r>
              <a:rPr lang="en-IN" dirty="0" smtClean="0"/>
              <a:t> </a:t>
            </a:r>
            <a:br>
              <a:rPr lang="en-IN" dirty="0" smtClean="0"/>
            </a:br>
            <a:r>
              <a:rPr lang="en-IN" dirty="0" smtClean="0"/>
              <a:t>Addresses for web sites are called URLs (Uniform Resource Locators). Most of them begin with http (</a:t>
            </a:r>
            <a:r>
              <a:rPr lang="en-IN" dirty="0" err="1" smtClean="0"/>
              <a:t>HyperText</a:t>
            </a:r>
            <a:r>
              <a:rPr lang="en-IN" dirty="0" smtClean="0"/>
              <a:t> Transfer Protocol), followed by a colon and two slashes.</a:t>
            </a:r>
          </a:p>
          <a:p>
            <a:r>
              <a:rPr lang="en-IN" dirty="0" smtClean="0"/>
              <a:t>Top-level domain names include:. </a:t>
            </a:r>
          </a:p>
          <a:p>
            <a:r>
              <a:rPr lang="en-IN" dirty="0" smtClean="0"/>
              <a:t>.com		Commercial</a:t>
            </a:r>
          </a:p>
          <a:p>
            <a:r>
              <a:rPr lang="en-IN" dirty="0" smtClean="0"/>
              <a:t>.</a:t>
            </a:r>
            <a:r>
              <a:rPr lang="en-IN" dirty="0" err="1" smtClean="0"/>
              <a:t>edu</a:t>
            </a:r>
            <a:r>
              <a:rPr lang="en-IN" dirty="0" smtClean="0"/>
              <a:t>			Educational</a:t>
            </a:r>
          </a:p>
          <a:p>
            <a:r>
              <a:rPr lang="en-IN" dirty="0" smtClean="0"/>
              <a:t>.</a:t>
            </a:r>
            <a:r>
              <a:rPr lang="en-IN" dirty="0" err="1" smtClean="0"/>
              <a:t>gov</a:t>
            </a:r>
            <a:r>
              <a:rPr lang="en-IN" dirty="0" smtClean="0"/>
              <a:t>			US Government</a:t>
            </a:r>
          </a:p>
          <a:p>
            <a:r>
              <a:rPr lang="en-IN" dirty="0" smtClean="0"/>
              <a:t>.</a:t>
            </a:r>
            <a:r>
              <a:rPr lang="en-IN" dirty="0" err="1" smtClean="0"/>
              <a:t>int</a:t>
            </a:r>
            <a:r>
              <a:rPr lang="en-IN" dirty="0" smtClean="0"/>
              <a:t>			Organization</a:t>
            </a:r>
          </a:p>
          <a:p>
            <a:r>
              <a:rPr lang="en-IN" dirty="0" smtClean="0"/>
              <a:t>.mil			US Military</a:t>
            </a:r>
          </a:p>
          <a:p>
            <a:r>
              <a:rPr lang="en-IN" dirty="0" err="1" smtClean="0"/>
              <a:t>.net</a:t>
            </a:r>
            <a:r>
              <a:rPr lang="en-IN" dirty="0" smtClean="0"/>
              <a:t>                           Networking Providers</a:t>
            </a:r>
          </a:p>
          <a:p>
            <a:r>
              <a:rPr lang="en-IN" dirty="0" smtClean="0"/>
              <a:t>.org			Non-profit Organization</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172200"/>
          </a:xfrm>
        </p:spPr>
        <p:txBody>
          <a:bodyPr>
            <a:normAutofit/>
          </a:bodyPr>
          <a:lstStyle/>
          <a:p>
            <a:pPr algn="just">
              <a:buNone/>
            </a:pPr>
            <a:r>
              <a:rPr lang="en-US" sz="2400" b="1" dirty="0" smtClean="0"/>
              <a:t>History of internet</a:t>
            </a:r>
          </a:p>
          <a:p>
            <a:pPr algn="just"/>
            <a:r>
              <a:rPr lang="en-US" sz="2000" dirty="0" smtClean="0"/>
              <a:t>The concept of Internet was originated in 1969 and has undergone several technological &amp; Infrastructural changes.</a:t>
            </a:r>
          </a:p>
          <a:p>
            <a:r>
              <a:rPr lang="en-US" sz="2000" dirty="0" smtClean="0"/>
              <a:t>The origin of Internet devised from the concept of </a:t>
            </a:r>
            <a:r>
              <a:rPr lang="en-US" sz="2000" b="1" dirty="0" smtClean="0"/>
              <a:t>Advanced Research Project Agency Network (ARPANET).</a:t>
            </a:r>
            <a:endParaRPr lang="en-US" sz="2000" dirty="0" smtClean="0"/>
          </a:p>
          <a:p>
            <a:r>
              <a:rPr lang="en-US" sz="2000" b="1" dirty="0" smtClean="0"/>
              <a:t>ARPANET</a:t>
            </a:r>
            <a:r>
              <a:rPr lang="en-US" sz="2000" dirty="0" smtClean="0"/>
              <a:t> was developed by United States Department of Defense.</a:t>
            </a:r>
          </a:p>
          <a:p>
            <a:r>
              <a:rPr lang="en-US" sz="2000" dirty="0" smtClean="0"/>
              <a:t>Basic purpose of ARPANET was to provide communication among the various bodies of government.</a:t>
            </a:r>
          </a:p>
          <a:p>
            <a:r>
              <a:rPr lang="en-US" sz="2000" dirty="0" smtClean="0"/>
              <a:t>Initially, there were only four nodes, formally called </a:t>
            </a:r>
            <a:r>
              <a:rPr lang="en-US" sz="2000" b="1" dirty="0" smtClean="0"/>
              <a:t>Hosts.</a:t>
            </a:r>
            <a:endParaRPr lang="en-US" sz="2000" dirty="0" smtClean="0"/>
          </a:p>
          <a:p>
            <a:r>
              <a:rPr lang="en-US" sz="2000" dirty="0" smtClean="0"/>
              <a:t>In 1972, the </a:t>
            </a:r>
            <a:r>
              <a:rPr lang="en-US" sz="2000" b="1" dirty="0" smtClean="0"/>
              <a:t>ARPANET</a:t>
            </a:r>
            <a:r>
              <a:rPr lang="en-US" sz="2000" dirty="0" smtClean="0"/>
              <a:t> spread over the globe with 23 nodes located at different countries and thus became known as </a:t>
            </a:r>
            <a:r>
              <a:rPr lang="en-US" sz="2000" b="1" dirty="0" smtClean="0"/>
              <a:t>Internet.</a:t>
            </a:r>
            <a:endParaRPr lang="en-US" sz="2000" dirty="0" smtClean="0"/>
          </a:p>
          <a:p>
            <a:r>
              <a:rPr lang="en-US" sz="2000" dirty="0" smtClean="0"/>
              <a:t>By the time, with invention of new technologies such as TCP/IP protocols, DNS, WWW, browsers, scripting languages etc., Internet provided a medium to publish and access information over the web.</a:t>
            </a:r>
          </a:p>
          <a:p>
            <a:pPr algn="just"/>
            <a:r>
              <a:rPr lang="en-US" sz="2000" dirty="0" smtClean="0"/>
              <a:t>The first message was sent over the ARPANET from computer science professor Leonard </a:t>
            </a:r>
            <a:r>
              <a:rPr lang="en-US" sz="2000" dirty="0" err="1" smtClean="0"/>
              <a:t>Kleinrock’s</a:t>
            </a:r>
            <a:r>
              <a:rPr lang="en-US" sz="2000" dirty="0" smtClean="0"/>
              <a:t> laboratory at University of California to the standard research Institute.</a:t>
            </a:r>
          </a:p>
          <a:p>
            <a:pPr algn="just">
              <a:buNone/>
            </a:pP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IN" dirty="0" smtClean="0"/>
              <a:t>The Internet acts as a pipeline to transport electronic messages from one network to another network. At the heart of most networks is a server, a fast computer with large amounts of memory and storage space. The server controls the communication of information between the devices attached to a network, such as computers, printers, or other servers.</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324600"/>
          </a:xfrm>
        </p:spPr>
        <p:txBody>
          <a:bodyPr>
            <a:normAutofit/>
          </a:bodyPr>
          <a:lstStyle/>
          <a:p>
            <a:pPr algn="just">
              <a:buNone/>
            </a:pPr>
            <a:endParaRPr lang="en-US" sz="2400" dirty="0" smtClean="0"/>
          </a:p>
          <a:p>
            <a:pPr algn="just">
              <a:buNone/>
            </a:pPr>
            <a:r>
              <a:rPr lang="en-US" sz="2400" b="1" dirty="0" smtClean="0"/>
              <a:t>How internet works?</a:t>
            </a:r>
          </a:p>
          <a:p>
            <a:pPr fontAlgn="base"/>
            <a:r>
              <a:rPr lang="en-US" sz="2000" dirty="0" smtClean="0"/>
              <a:t>It's important to realize that the Internet is a global network of </a:t>
            </a:r>
            <a:r>
              <a:rPr lang="en-US" sz="2000" b="1" dirty="0" smtClean="0"/>
              <a:t>physical cables</a:t>
            </a:r>
            <a:r>
              <a:rPr lang="en-US" sz="2000" dirty="0" smtClean="0"/>
              <a:t>, which can include copper telephone wires, TV cables, and fiber optic cables. </a:t>
            </a:r>
          </a:p>
          <a:p>
            <a:pPr fontAlgn="base"/>
            <a:r>
              <a:rPr lang="en-US" sz="2000" dirty="0" smtClean="0"/>
              <a:t>Even wireless connections like Wi-Fi and 3G/4G rely on these physical cables to access the Internet.</a:t>
            </a:r>
          </a:p>
          <a:p>
            <a:pPr fontAlgn="base"/>
            <a:r>
              <a:rPr lang="en-US" sz="2000" dirty="0" smtClean="0"/>
              <a:t>When you visit a website, your computer sends a request over these wires to a </a:t>
            </a:r>
            <a:r>
              <a:rPr lang="en-US" sz="2000" b="1" dirty="0" smtClean="0"/>
              <a:t>server</a:t>
            </a:r>
            <a:r>
              <a:rPr lang="en-US" sz="2000" dirty="0" smtClean="0"/>
              <a:t>. </a:t>
            </a:r>
          </a:p>
          <a:p>
            <a:pPr fontAlgn="base"/>
            <a:r>
              <a:rPr lang="en-US" sz="2000" dirty="0" smtClean="0"/>
              <a:t>A server is where websites are stored, and it works a lot like your computer's hard drive. </a:t>
            </a:r>
          </a:p>
          <a:p>
            <a:pPr fontAlgn="base"/>
            <a:r>
              <a:rPr lang="en-US" sz="2000" dirty="0" smtClean="0"/>
              <a:t>Once the request arrives, the server retrieves the website and sends the correct data back to your computer. </a:t>
            </a:r>
          </a:p>
          <a:p>
            <a:pPr fontAlgn="base"/>
            <a:r>
              <a:rPr lang="en-US" sz="2000" dirty="0" smtClean="0"/>
              <a:t>What's amazing is that this all happens in just a few seconds! </a:t>
            </a:r>
          </a:p>
          <a:p>
            <a:pPr algn="just">
              <a:buNone/>
            </a:pP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534400" cy="6172200"/>
          </a:xfrm>
        </p:spPr>
        <p:txBody>
          <a:bodyPr>
            <a:normAutofit/>
          </a:bodyPr>
          <a:lstStyle/>
          <a:p>
            <a:pPr algn="just">
              <a:buNone/>
            </a:pPr>
            <a:r>
              <a:rPr lang="en-US" sz="2400" b="1" dirty="0" smtClean="0"/>
              <a:t>Specification and establishment details</a:t>
            </a:r>
          </a:p>
          <a:p>
            <a:pPr>
              <a:buNone/>
            </a:pPr>
            <a:endParaRPr lang="en-US" sz="2000" b="1" dirty="0" smtClean="0"/>
          </a:p>
          <a:p>
            <a:pPr>
              <a:buNone/>
            </a:pPr>
            <a:r>
              <a:rPr lang="en-US" sz="2000" b="1" dirty="0" smtClean="0"/>
              <a:t>To connect to the Internet you need the following four things:</a:t>
            </a:r>
          </a:p>
          <a:p>
            <a:pPr fontAlgn="auto">
              <a:spcBef>
                <a:spcPts val="0"/>
              </a:spcBef>
              <a:spcAft>
                <a:spcPts val="0"/>
              </a:spcAft>
              <a:defRPr/>
            </a:pPr>
            <a:r>
              <a:rPr lang="en-US" sz="2000" dirty="0" smtClean="0"/>
              <a:t>To connect the internet following four things are necessary:</a:t>
            </a:r>
          </a:p>
          <a:p>
            <a:pPr fontAlgn="auto">
              <a:spcBef>
                <a:spcPts val="0"/>
              </a:spcBef>
              <a:spcAft>
                <a:spcPts val="0"/>
              </a:spcAft>
              <a:defRPr/>
            </a:pPr>
            <a:endParaRPr lang="en-US" sz="2000" dirty="0" smtClean="0"/>
          </a:p>
          <a:p>
            <a:pPr fontAlgn="auto">
              <a:spcBef>
                <a:spcPts val="0"/>
              </a:spcBef>
              <a:spcAft>
                <a:spcPts val="0"/>
              </a:spcAft>
              <a:defRPr/>
            </a:pPr>
            <a:r>
              <a:rPr lang="en-US" sz="2000" dirty="0" smtClean="0"/>
              <a:t> </a:t>
            </a:r>
          </a:p>
          <a:p>
            <a:pPr marL="457200" indent="-457200" fontAlgn="auto">
              <a:spcBef>
                <a:spcPts val="0"/>
              </a:spcBef>
              <a:spcAft>
                <a:spcPts val="0"/>
              </a:spcAft>
              <a:buNone/>
              <a:defRPr/>
            </a:pPr>
            <a:r>
              <a:rPr lang="en-US" sz="2000" b="1" dirty="0" smtClean="0"/>
              <a:t> 1) Computer</a:t>
            </a:r>
          </a:p>
          <a:p>
            <a:pPr marL="457200" indent="-457200" fontAlgn="auto">
              <a:spcBef>
                <a:spcPts val="0"/>
              </a:spcBef>
              <a:spcAft>
                <a:spcPts val="0"/>
              </a:spcAft>
              <a:buAutoNum type="arabicParenR"/>
              <a:defRPr/>
            </a:pPr>
            <a:endParaRPr lang="en-US" sz="2000" b="1" dirty="0" smtClean="0"/>
          </a:p>
          <a:p>
            <a:pPr fontAlgn="auto">
              <a:spcBef>
                <a:spcPts val="0"/>
              </a:spcBef>
              <a:spcAft>
                <a:spcPts val="0"/>
              </a:spcAft>
              <a:defRPr/>
            </a:pPr>
            <a:endParaRPr lang="en-US" sz="2000" b="1" dirty="0" smtClean="0"/>
          </a:p>
          <a:p>
            <a:pPr fontAlgn="auto">
              <a:spcBef>
                <a:spcPts val="0"/>
              </a:spcBef>
              <a:spcAft>
                <a:spcPts val="0"/>
              </a:spcAft>
              <a:defRPr/>
            </a:pPr>
            <a:endParaRPr lang="en-US" sz="2000" b="1" dirty="0" smtClean="0"/>
          </a:p>
          <a:p>
            <a:pPr fontAlgn="auto">
              <a:spcBef>
                <a:spcPts val="0"/>
              </a:spcBef>
              <a:spcAft>
                <a:spcPts val="0"/>
              </a:spcAft>
              <a:defRPr/>
            </a:pPr>
            <a:r>
              <a:rPr lang="en-US" sz="2000" b="1" dirty="0" smtClean="0"/>
              <a:t>2) Modem </a:t>
            </a:r>
            <a:r>
              <a:rPr lang="en-US" sz="2000" dirty="0" smtClean="0"/>
              <a:t>: Modem is a device that you will need to get your computer &amp; broadband working together.</a:t>
            </a:r>
          </a:p>
          <a:p>
            <a:pPr fontAlgn="base">
              <a:buNone/>
            </a:pPr>
            <a:r>
              <a:rPr lang="en-US" sz="1800" dirty="0" smtClean="0"/>
              <a:t>.</a:t>
            </a:r>
            <a:endParaRPr lang="en-US" sz="2000" dirty="0" smtClean="0"/>
          </a:p>
          <a:p>
            <a:pPr algn="just">
              <a:buNone/>
            </a:pPr>
            <a:endParaRPr lang="en-US" sz="2000" dirty="0"/>
          </a:p>
        </p:txBody>
      </p:sp>
      <p:pic>
        <p:nvPicPr>
          <p:cNvPr id="4" name="Picture 2" descr="http://www.c2cis.com/uploads/2/1/4/6/21468406/1733734.png"/>
          <p:cNvPicPr>
            <a:picLocks noChangeAspect="1" noChangeArrowheads="1"/>
          </p:cNvPicPr>
          <p:nvPr/>
        </p:nvPicPr>
        <p:blipFill>
          <a:blip r:embed="rId2" cstate="print"/>
          <a:srcRect/>
          <a:stretch>
            <a:fillRect/>
          </a:stretch>
        </p:blipFill>
        <p:spPr bwMode="auto">
          <a:xfrm>
            <a:off x="3048000" y="1905000"/>
            <a:ext cx="1676399" cy="1676400"/>
          </a:xfrm>
          <a:prstGeom prst="rect">
            <a:avLst/>
          </a:prstGeom>
          <a:noFill/>
        </p:spPr>
      </p:pic>
      <p:pic>
        <p:nvPicPr>
          <p:cNvPr id="5" name="Picture 4" descr="http://static.diffen.com/uploadz/a/ad/Modem-vs-Router.png"/>
          <p:cNvPicPr>
            <a:picLocks noChangeAspect="1" noChangeArrowheads="1"/>
          </p:cNvPicPr>
          <p:nvPr/>
        </p:nvPicPr>
        <p:blipFill>
          <a:blip r:embed="rId3" cstate="print"/>
          <a:srcRect/>
          <a:stretch>
            <a:fillRect/>
          </a:stretch>
        </p:blipFill>
        <p:spPr bwMode="auto">
          <a:xfrm>
            <a:off x="1295400" y="4495800"/>
            <a:ext cx="5334000" cy="162784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7200"/>
            <a:ext cx="8229600" cy="5867400"/>
          </a:xfrm>
        </p:spPr>
        <p:txBody>
          <a:bodyPr/>
          <a:lstStyle/>
          <a:p>
            <a:r>
              <a:rPr lang="en-US" dirty="0" smtClean="0"/>
              <a:t>3) Internet Browser : It is a software that you can view web pages.</a:t>
            </a:r>
          </a:p>
          <a:p>
            <a:endParaRPr lang="en-US" dirty="0" smtClean="0"/>
          </a:p>
          <a:p>
            <a:endParaRPr lang="en-US" dirty="0" smtClean="0"/>
          </a:p>
          <a:p>
            <a:endParaRPr lang="en-US" dirty="0" smtClean="0"/>
          </a:p>
          <a:p>
            <a:pPr>
              <a:buNone/>
            </a:pPr>
            <a:endParaRPr lang="en-US" dirty="0" smtClean="0"/>
          </a:p>
          <a:p>
            <a:r>
              <a:rPr lang="en-US" sz="2800" b="1" dirty="0" smtClean="0"/>
              <a:t>4) </a:t>
            </a:r>
            <a:r>
              <a:rPr lang="en-US" sz="2400" b="1" dirty="0" smtClean="0"/>
              <a:t>An Account with Internet Service Provider (ISP) </a:t>
            </a:r>
            <a:r>
              <a:rPr lang="en-US" sz="2400" dirty="0" smtClean="0"/>
              <a:t>: It is an internet company that provides internet service to customer.</a:t>
            </a:r>
          </a:p>
          <a:p>
            <a:endParaRPr lang="en-US" dirty="0"/>
          </a:p>
        </p:txBody>
      </p:sp>
      <p:pic>
        <p:nvPicPr>
          <p:cNvPr id="5" name="Picture 2" descr="https://www.threatintelligence.com/module/threatintelligence/static/image/webapps.jpg"/>
          <p:cNvPicPr>
            <a:picLocks noChangeAspect="1" noChangeArrowheads="1"/>
          </p:cNvPicPr>
          <p:nvPr/>
        </p:nvPicPr>
        <p:blipFill>
          <a:blip r:embed="rId2" cstate="print"/>
          <a:srcRect/>
          <a:stretch>
            <a:fillRect/>
          </a:stretch>
        </p:blipFill>
        <p:spPr bwMode="auto">
          <a:xfrm>
            <a:off x="2743200" y="838200"/>
            <a:ext cx="2209800" cy="2226415"/>
          </a:xfrm>
          <a:prstGeom prst="rect">
            <a:avLst/>
          </a:prstGeom>
          <a:noFill/>
        </p:spPr>
      </p:pic>
      <p:pic>
        <p:nvPicPr>
          <p:cNvPr id="6" name="Picture 4" descr="http://ifip-tm2010.org/wp-content/uploads/2015/10/server-4.jpg"/>
          <p:cNvPicPr>
            <a:picLocks noChangeAspect="1" noChangeArrowheads="1"/>
          </p:cNvPicPr>
          <p:nvPr/>
        </p:nvPicPr>
        <p:blipFill>
          <a:blip r:embed="rId3" cstate="print"/>
          <a:srcRect/>
          <a:stretch>
            <a:fillRect/>
          </a:stretch>
        </p:blipFill>
        <p:spPr bwMode="auto">
          <a:xfrm>
            <a:off x="3505200" y="4343400"/>
            <a:ext cx="2133600" cy="213868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81000"/>
            <a:ext cx="8382000" cy="6172200"/>
          </a:xfrm>
        </p:spPr>
        <p:txBody>
          <a:bodyPr>
            <a:normAutofit/>
          </a:bodyPr>
          <a:lstStyle/>
          <a:p>
            <a:pPr algn="just">
              <a:buNone/>
            </a:pPr>
            <a:r>
              <a:rPr lang="en-US" sz="2400" b="1" dirty="0" smtClean="0"/>
              <a:t>Advantage and disadvantage of internet</a:t>
            </a:r>
          </a:p>
          <a:p>
            <a:pPr fontAlgn="base"/>
            <a:r>
              <a:rPr lang="en-US" sz="2000" dirty="0" smtClean="0"/>
              <a:t>The most popular and innovative creation in the world of technology is the </a:t>
            </a:r>
            <a:r>
              <a:rPr lang="en-US" sz="2000" b="1" dirty="0" smtClean="0"/>
              <a:t>Internet</a:t>
            </a:r>
            <a:r>
              <a:rPr lang="en-US" sz="2000" dirty="0" smtClean="0"/>
              <a:t>. The internet is the place where all kinds of information is present and even the communication process is possible using the internet. The world has now become internet dependent because of its vast advantages.</a:t>
            </a:r>
          </a:p>
          <a:p>
            <a:r>
              <a:rPr lang="en-US" sz="2000" dirty="0" smtClean="0">
                <a:hlinkClick r:id="rId2"/>
              </a:rPr>
              <a:t/>
            </a:r>
            <a:br>
              <a:rPr lang="en-US" sz="2000" dirty="0" smtClean="0">
                <a:hlinkClick r:id="rId2"/>
              </a:rPr>
            </a:br>
            <a:r>
              <a:rPr lang="en-US" sz="2000" dirty="0" smtClean="0"/>
              <a:t>One can surf for any kind of information over the internet. Information regarding various topics such as Technology, Health &amp; Science, Social Studies, Geographical Information, Information Technology, Products etc can be surfed with help of a search engine.</a:t>
            </a:r>
          </a:p>
          <a:p>
            <a:r>
              <a:rPr lang="en-US" sz="2000" dirty="0" smtClean="0"/>
              <a:t>Internet allows us to use many services like:</a:t>
            </a:r>
          </a:p>
          <a:p>
            <a:pPr lvl="1"/>
            <a:r>
              <a:rPr lang="en-US" sz="1800" dirty="0" smtClean="0"/>
              <a:t>Internet Banking</a:t>
            </a:r>
          </a:p>
          <a:p>
            <a:pPr lvl="1"/>
            <a:r>
              <a:rPr lang="en-US" sz="1800" dirty="0" smtClean="0"/>
              <a:t>Matrimonial Services</a:t>
            </a:r>
          </a:p>
          <a:p>
            <a:pPr lvl="1"/>
            <a:r>
              <a:rPr lang="en-US" sz="1800" dirty="0" smtClean="0"/>
              <a:t>Online Shopping</a:t>
            </a:r>
          </a:p>
          <a:p>
            <a:pPr lvl="1"/>
            <a:r>
              <a:rPr lang="en-US" sz="1800" dirty="0" smtClean="0"/>
              <a:t>Online Ticket Booking</a:t>
            </a:r>
          </a:p>
          <a:p>
            <a:pPr lvl="1"/>
            <a:r>
              <a:rPr lang="en-US" sz="1800" dirty="0" smtClean="0"/>
              <a:t>Online Bill Payment</a:t>
            </a:r>
          </a:p>
          <a:p>
            <a:pPr lvl="1"/>
            <a:r>
              <a:rPr lang="en-US" sz="1800" dirty="0" smtClean="0"/>
              <a:t>Data Sharing</a:t>
            </a:r>
          </a:p>
          <a:p>
            <a:pPr lvl="1"/>
            <a:r>
              <a:rPr lang="en-US" sz="1800" dirty="0" smtClean="0"/>
              <a:t>E-mail</a:t>
            </a:r>
          </a:p>
          <a:p>
            <a:pPr algn="just"/>
            <a:endParaRPr lang="en-US" sz="2000" dirty="0" smtClean="0"/>
          </a:p>
          <a:p>
            <a:pPr algn="just">
              <a:buNone/>
            </a:pP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normAutofit fontScale="90000"/>
          </a:bodyPr>
          <a:lstStyle/>
          <a:p>
            <a:r>
              <a:rPr lang="en-US" sz="5400" dirty="0" smtClean="0"/>
              <a:t>Advantage</a:t>
            </a:r>
            <a:r>
              <a:rPr lang="en-US" dirty="0" smtClean="0"/>
              <a:t> of Internet</a:t>
            </a:r>
            <a:endParaRPr lang="en-US" dirty="0"/>
          </a:p>
        </p:txBody>
      </p:sp>
      <p:sp>
        <p:nvSpPr>
          <p:cNvPr id="3" name="Content Placeholder 2"/>
          <p:cNvSpPr>
            <a:spLocks noGrp="1"/>
          </p:cNvSpPr>
          <p:nvPr>
            <p:ph sz="quarter" idx="1"/>
          </p:nvPr>
        </p:nvSpPr>
        <p:spPr>
          <a:xfrm>
            <a:off x="457200" y="1143000"/>
            <a:ext cx="8229600" cy="5562600"/>
          </a:xfrm>
        </p:spPr>
        <p:txBody>
          <a:bodyPr>
            <a:normAutofit fontScale="92500" lnSpcReduction="20000"/>
          </a:bodyPr>
          <a:lstStyle/>
          <a:p>
            <a:pPr algn="just" fontAlgn="base"/>
            <a:r>
              <a:rPr lang="en-US" sz="2100" b="1" cap="all" dirty="0" smtClean="0"/>
              <a:t>COMMUNICATION:</a:t>
            </a:r>
            <a:endParaRPr lang="en-US" sz="2100" cap="all" dirty="0" smtClean="0"/>
          </a:p>
          <a:p>
            <a:pPr algn="just" fontAlgn="base"/>
            <a:r>
              <a:rPr lang="en-US" sz="2100" dirty="0" smtClean="0"/>
              <a:t>The main advantage of internet is the faster communication than any other devices. It’s an instant process. Communication in the form of video calls, emails etc. is possible using internet. Thus, there is no specific region that can be accessed. It is accessible all over the world. Hence, because of this global issues are reduced since video conferencing is possible where everyone across the world can be in single place and can solve out a problem.</a:t>
            </a:r>
          </a:p>
          <a:p>
            <a:pPr algn="just" fontAlgn="base">
              <a:buNone/>
            </a:pPr>
            <a:endParaRPr lang="en-US" sz="2100" dirty="0" smtClean="0"/>
          </a:p>
          <a:p>
            <a:pPr algn="just" fontAlgn="base"/>
            <a:r>
              <a:rPr lang="en-US" sz="2100" b="1" cap="all" dirty="0" smtClean="0"/>
              <a:t>INFORMATION:</a:t>
            </a:r>
            <a:endParaRPr lang="en-US" sz="2100" cap="all" dirty="0" smtClean="0"/>
          </a:p>
          <a:p>
            <a:pPr algn="just" fontAlgn="base"/>
            <a:r>
              <a:rPr lang="en-US" sz="2100" dirty="0" smtClean="0"/>
              <a:t>The internet is the source of knowledge. All kinds of information is present in it. it is easily accessed and can be searched more to get more additional knowledge. Information like educational related, government laws, market sales, stocks and shares, new creations etc. is gathered from a single place.</a:t>
            </a:r>
          </a:p>
          <a:p>
            <a:pPr algn="just" fontAlgn="base">
              <a:buNone/>
            </a:pPr>
            <a:endParaRPr lang="en-US" sz="2100" dirty="0" smtClean="0"/>
          </a:p>
          <a:p>
            <a:pPr algn="just" fontAlgn="base"/>
            <a:r>
              <a:rPr lang="en-US" sz="2100" b="1" cap="all" dirty="0" smtClean="0"/>
              <a:t>LEARNING:</a:t>
            </a:r>
            <a:endParaRPr lang="en-US" sz="2100" cap="all" dirty="0" smtClean="0"/>
          </a:p>
          <a:p>
            <a:pPr algn="just" fontAlgn="base"/>
            <a:r>
              <a:rPr lang="en-US" sz="2100" dirty="0" smtClean="0"/>
              <a:t>The internet has now become a part of education. Education like home schooling is easily carried out using internet. Teachers can upload their teaching videos in the internet and is accessed by people across the world which is helpful for all students. The marks are also released in the internet since, releasing mark for the whole institution in notice boards will create chaos.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normAutofit fontScale="90000"/>
          </a:bodyPr>
          <a:lstStyle/>
          <a:p>
            <a:r>
              <a:rPr lang="en-US" sz="5400" dirty="0" smtClean="0"/>
              <a:t>Advantage</a:t>
            </a:r>
            <a:r>
              <a:rPr lang="en-US" dirty="0" smtClean="0"/>
              <a:t> of Internet</a:t>
            </a:r>
            <a:endParaRPr lang="en-US" dirty="0"/>
          </a:p>
        </p:txBody>
      </p:sp>
      <p:sp>
        <p:nvSpPr>
          <p:cNvPr id="3" name="Content Placeholder 2"/>
          <p:cNvSpPr>
            <a:spLocks noGrp="1"/>
          </p:cNvSpPr>
          <p:nvPr>
            <p:ph sz="quarter" idx="1"/>
          </p:nvPr>
        </p:nvSpPr>
        <p:spPr>
          <a:xfrm>
            <a:off x="457200" y="1143000"/>
            <a:ext cx="8229600" cy="5181600"/>
          </a:xfrm>
        </p:spPr>
        <p:txBody>
          <a:bodyPr>
            <a:normAutofit fontScale="85000" lnSpcReduction="20000"/>
          </a:bodyPr>
          <a:lstStyle/>
          <a:p>
            <a:pPr fontAlgn="base"/>
            <a:r>
              <a:rPr lang="en-US" b="1" cap="all" dirty="0" smtClean="0"/>
              <a:t>ENTERTAINMENT:</a:t>
            </a:r>
            <a:endParaRPr lang="en-US" cap="all" dirty="0" smtClean="0"/>
          </a:p>
          <a:p>
            <a:pPr fontAlgn="base"/>
            <a:r>
              <a:rPr lang="en-US" dirty="0" smtClean="0"/>
              <a:t>The internet is now the most popular form of entertainment. Movies, songs, videos, games etc. is available in internet for free. Social networking is also possible using internet. Hence, there is tons of entertainment that is available in online in the internet.</a:t>
            </a:r>
          </a:p>
          <a:p>
            <a:pPr fontAlgn="base"/>
            <a:r>
              <a:rPr lang="en-US" b="1" cap="all" dirty="0" smtClean="0"/>
              <a:t>SOCIAL NETWORK:</a:t>
            </a:r>
            <a:endParaRPr lang="en-US" cap="all" dirty="0" smtClean="0"/>
          </a:p>
          <a:p>
            <a:pPr fontAlgn="base"/>
            <a:r>
              <a:rPr lang="en-US" dirty="0" smtClean="0"/>
              <a:t>The social networking is the sharing of information to people across the world. Apart from being an entertainment website, it has many uses. Any job vacancy, emergency news, ideas etc. can be shared in the website and the information gets passed on quickly to wide area. Also the Social Networking </a:t>
            </a:r>
            <a:r>
              <a:rPr lang="en-US" dirty="0" err="1" smtClean="0"/>
              <a:t>websiter</a:t>
            </a:r>
            <a:r>
              <a:rPr lang="en-US" dirty="0" smtClean="0"/>
              <a:t>  are used to easy communications. Example: </a:t>
            </a:r>
            <a:r>
              <a:rPr lang="en-US" dirty="0" err="1" smtClean="0"/>
              <a:t>Facebook</a:t>
            </a:r>
            <a:r>
              <a:rPr lang="en-US" dirty="0" smtClean="0"/>
              <a:t> and twitter.</a:t>
            </a:r>
          </a:p>
          <a:p>
            <a:pPr fontAlgn="base"/>
            <a:r>
              <a:rPr lang="en-US" b="1" cap="all" dirty="0" smtClean="0"/>
              <a:t>E-COMMERCE</a:t>
            </a:r>
            <a:r>
              <a:rPr lang="en-US" cap="all" dirty="0" smtClean="0"/>
              <a:t>:</a:t>
            </a:r>
          </a:p>
          <a:p>
            <a:pPr fontAlgn="base"/>
            <a:r>
              <a:rPr lang="en-US" dirty="0" smtClean="0"/>
              <a:t>All business deals can be carried in the internet like transaction of money etc. this is called E commerce. Online reservations, online ticket booking for movie etc. can be done easily. It saves us lots of time. Online shopping is now the latest trend in internet world where products from dresses to household furniture is available at door step.</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534400" cy="6248400"/>
          </a:xfrm>
        </p:spPr>
        <p:txBody>
          <a:bodyPr>
            <a:normAutofit/>
          </a:bodyPr>
          <a:lstStyle/>
          <a:p>
            <a:pPr algn="just">
              <a:buNone/>
            </a:pPr>
            <a:r>
              <a:rPr lang="en-US" sz="2400" dirty="0" smtClean="0"/>
              <a:t>Disadvantage</a:t>
            </a:r>
          </a:p>
          <a:p>
            <a:r>
              <a:rPr lang="en-US" sz="2000" dirty="0" smtClean="0"/>
              <a:t>There are always chances to loose personal information such as name, address, credit card number. Therefore, one should be very careful while sharing such information. One should use credit cards only through authenticated sites.</a:t>
            </a:r>
          </a:p>
          <a:p>
            <a:r>
              <a:rPr lang="en-US" sz="2000" dirty="0" smtClean="0"/>
              <a:t>Another disadvantage is the </a:t>
            </a:r>
            <a:r>
              <a:rPr lang="en-US" sz="2000" b="1" dirty="0" smtClean="0"/>
              <a:t>Spamming</a:t>
            </a:r>
            <a:r>
              <a:rPr lang="en-US" sz="2000" dirty="0" smtClean="0"/>
              <a:t>. Spamming corresponds to the unwanted e-mails in bulk. These e-mails serve no purpose and lead to obstruction of entire system.</a:t>
            </a:r>
          </a:p>
          <a:p>
            <a:r>
              <a:rPr lang="en-US" sz="2000" b="1" dirty="0" smtClean="0"/>
              <a:t>Virus</a:t>
            </a:r>
            <a:r>
              <a:rPr lang="en-US" sz="2000" dirty="0" smtClean="0"/>
              <a:t> can easily be spread to the computers connected to internet. Such virus attacks may cause your system to crash or your important data may get deleted.</a:t>
            </a:r>
          </a:p>
          <a:p>
            <a:r>
              <a:rPr lang="en-US" sz="2000" dirty="0" smtClean="0"/>
              <a:t>There are various websites that do not provide the authenticated information. This leads to misconception among many people.</a:t>
            </a:r>
          </a:p>
          <a:p>
            <a:pPr algn="just"/>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normAutofit fontScale="90000"/>
          </a:bodyPr>
          <a:lstStyle/>
          <a:p>
            <a:r>
              <a:rPr lang="en-US" sz="5400" dirty="0" smtClean="0"/>
              <a:t/>
            </a:r>
            <a:br>
              <a:rPr lang="en-US" sz="5400" dirty="0" smtClean="0"/>
            </a:br>
            <a:r>
              <a:rPr lang="en-US" sz="4800" dirty="0" smtClean="0"/>
              <a:t> Disadvantage of Internet</a:t>
            </a:r>
            <a:endParaRPr lang="en-US" dirty="0"/>
          </a:p>
        </p:txBody>
      </p:sp>
      <p:sp>
        <p:nvSpPr>
          <p:cNvPr id="3" name="Content Placeholder 2"/>
          <p:cNvSpPr>
            <a:spLocks noGrp="1"/>
          </p:cNvSpPr>
          <p:nvPr>
            <p:ph sz="quarter" idx="1"/>
          </p:nvPr>
        </p:nvSpPr>
        <p:spPr>
          <a:xfrm>
            <a:off x="457200" y="1219200"/>
            <a:ext cx="8229600" cy="5105400"/>
          </a:xfrm>
        </p:spPr>
        <p:txBody>
          <a:bodyPr>
            <a:normAutofit fontScale="85000" lnSpcReduction="20000"/>
          </a:bodyPr>
          <a:lstStyle/>
          <a:p>
            <a:pPr fontAlgn="base"/>
            <a:r>
              <a:rPr lang="en-US" b="1" cap="all" dirty="0" smtClean="0"/>
              <a:t>INFORMATION LOSS:</a:t>
            </a:r>
            <a:endParaRPr lang="en-US" cap="all" dirty="0" smtClean="0"/>
          </a:p>
          <a:p>
            <a:pPr fontAlgn="base"/>
            <a:r>
              <a:rPr lang="en-US" dirty="0" smtClean="0"/>
              <a:t>The information crucial to us or any important files can be easily taken by the hackers. There is no exact proof for the security for the details we store like account number, passwords etc. hence, sensitive information must be carefully stored by the people.</a:t>
            </a:r>
          </a:p>
          <a:p>
            <a:pPr fontAlgn="base"/>
            <a:r>
              <a:rPr lang="en-US" b="1" cap="all" dirty="0" smtClean="0"/>
              <a:t>SPAM:</a:t>
            </a:r>
            <a:endParaRPr lang="en-US" cap="all" dirty="0" smtClean="0"/>
          </a:p>
          <a:p>
            <a:pPr fontAlgn="base"/>
            <a:r>
              <a:rPr lang="en-US" dirty="0" smtClean="0"/>
              <a:t>The unnecessary emails, advertisements etc. sometimes are said to be spam because they have the ability to slow down the system and makes the users to face lots of problems. Spam makes the people get more confused since important emails are also stored along with spam.</a:t>
            </a:r>
          </a:p>
          <a:p>
            <a:pPr fontAlgn="base"/>
            <a:r>
              <a:rPr lang="en-US" b="1" cap="all" dirty="0" smtClean="0"/>
              <a:t>VIRUS ATTACKS:</a:t>
            </a:r>
            <a:endParaRPr lang="en-US" cap="all" dirty="0" smtClean="0"/>
          </a:p>
          <a:p>
            <a:pPr fontAlgn="base"/>
            <a:r>
              <a:rPr lang="en-US" dirty="0" smtClean="0"/>
              <a:t>The malware or virus threats are so deadly that affects the system to a greater extend. It immediately deletes all important files and finally the system ends up being crashed. The virus attack is possible in three ways. One it attacks selected files. Two, it harms the executable boot files and most dangerous of all is the macro virus which has the ability to replicate and expand to all parts of files.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534400" cy="6248400"/>
          </a:xfrm>
        </p:spPr>
        <p:txBody>
          <a:bodyPr>
            <a:normAutofit/>
          </a:bodyPr>
          <a:lstStyle/>
          <a:p>
            <a:pPr>
              <a:buNone/>
            </a:pPr>
            <a:r>
              <a:rPr lang="en-US" sz="2400" b="1" smtClean="0"/>
              <a:t>Intranets  and  </a:t>
            </a:r>
            <a:r>
              <a:rPr lang="en-US" sz="2400" b="1" dirty="0" smtClean="0"/>
              <a:t>Extranets</a:t>
            </a:r>
          </a:p>
          <a:p>
            <a:pPr algn="just">
              <a:buNone/>
            </a:pPr>
            <a:r>
              <a:rPr lang="en-US" sz="2000" b="1" dirty="0" smtClean="0"/>
              <a:t>What is intranet?</a:t>
            </a:r>
          </a:p>
          <a:p>
            <a:pPr algn="just"/>
            <a:r>
              <a:rPr lang="en-US" sz="2000" b="1" dirty="0" smtClean="0"/>
              <a:t>Intranet is a restricted version of the internet, that typically does not allow access to anyone outside of its network. </a:t>
            </a:r>
          </a:p>
          <a:p>
            <a:pPr algn="just"/>
            <a:r>
              <a:rPr lang="en-US" sz="2000" dirty="0" smtClean="0"/>
              <a:t>An intranet is typically a </a:t>
            </a:r>
            <a:r>
              <a:rPr lang="en-US" sz="2000" b="1" dirty="0" smtClean="0"/>
              <a:t>local</a:t>
            </a:r>
            <a:r>
              <a:rPr lang="en-US" sz="2000" dirty="0" smtClean="0"/>
              <a:t> only network.</a:t>
            </a:r>
          </a:p>
          <a:p>
            <a:pPr algn="just"/>
            <a:r>
              <a:rPr lang="en-US" sz="2000" dirty="0" smtClean="0"/>
              <a:t>Intranet is defined as </a:t>
            </a:r>
            <a:r>
              <a:rPr lang="en-US" sz="2000" b="1" dirty="0" smtClean="0"/>
              <a:t>private network of computers within an organization </a:t>
            </a:r>
            <a:r>
              <a:rPr lang="en-US" sz="2000" dirty="0" smtClean="0"/>
              <a:t>with its own server and firewall.</a:t>
            </a:r>
          </a:p>
          <a:p>
            <a:pPr algn="just"/>
            <a:r>
              <a:rPr lang="en-US" sz="2000" dirty="0" smtClean="0"/>
              <a:t>Intranets may be used for organizations or networks that do not want their information to be able to be accessed by outside sources, and is especially important for organizations that require a high amount of secrecy - such as a server that holds military secrets or a database for the CIA. (Central Intelligence Agency)</a:t>
            </a:r>
          </a:p>
          <a:p>
            <a:pPr algn="just"/>
            <a:r>
              <a:rPr lang="en-US" sz="2000" dirty="0" smtClean="0"/>
              <a:t>Intranets are basically </a:t>
            </a:r>
            <a:r>
              <a:rPr lang="en-US" sz="2000" b="1" dirty="0" smtClean="0"/>
              <a:t>mini versions of the internet </a:t>
            </a:r>
            <a:r>
              <a:rPr lang="en-US" sz="2000" dirty="0" smtClean="0"/>
              <a:t>that connect just a few servers, instead of the countless number of servers that the internet holds and connects with one another.</a:t>
            </a:r>
          </a:p>
          <a:p>
            <a:pPr algn="just"/>
            <a:r>
              <a:rPr lang="en-US" sz="2000" dirty="0" smtClean="0"/>
              <a:t>It is mostly used by company, school, government or organization.</a:t>
            </a:r>
          </a:p>
          <a:p>
            <a:pPr algn="just"/>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324600"/>
          </a:xfrm>
        </p:spPr>
        <p:txBody>
          <a:bodyPr>
            <a:normAutofit/>
          </a:bodyPr>
          <a:lstStyle/>
          <a:p>
            <a:pPr algn="just">
              <a:buNone/>
            </a:pPr>
            <a:endParaRPr lang="en-US" sz="2000" dirty="0" smtClean="0"/>
          </a:p>
          <a:p>
            <a:pPr algn="just">
              <a:buNone/>
            </a:pPr>
            <a:r>
              <a:rPr lang="en-US" sz="2000" b="1" u="sng" dirty="0" smtClean="0"/>
              <a:t>Advantages </a:t>
            </a:r>
          </a:p>
          <a:p>
            <a:pPr>
              <a:buNone/>
            </a:pPr>
            <a:r>
              <a:rPr lang="en-US" sz="2000" b="1" dirty="0" smtClean="0"/>
              <a:t>Communication</a:t>
            </a:r>
            <a:r>
              <a:rPr lang="en-US" sz="2000" dirty="0" smtClean="0"/>
              <a:t> : Intranet offers easy and cheap communication within an organization. Employees can communicate using chat, e-mail or blogs.</a:t>
            </a:r>
          </a:p>
          <a:p>
            <a:pPr>
              <a:buNone/>
            </a:pPr>
            <a:r>
              <a:rPr lang="en-US" sz="2000" b="1" dirty="0" smtClean="0"/>
              <a:t>Cost Effective : </a:t>
            </a:r>
            <a:r>
              <a:rPr lang="en-US" sz="2000" dirty="0" smtClean="0"/>
              <a:t>Employees can see the data and other documents using browser rather than printing them and distributing duplicate copies among the employees, which certainly decreases the cost.</a:t>
            </a:r>
          </a:p>
          <a:p>
            <a:pPr>
              <a:buNone/>
            </a:pPr>
            <a:r>
              <a:rPr lang="en-US" sz="2000" b="1" dirty="0" smtClean="0"/>
              <a:t>Security</a:t>
            </a:r>
            <a:r>
              <a:rPr lang="en-US" sz="2000" dirty="0" smtClean="0"/>
              <a:t> : Since information shared on intranet can only be accessed within an organization, therefore there is almost no chance of being theft.</a:t>
            </a:r>
          </a:p>
          <a:p>
            <a:pPr>
              <a:buNone/>
            </a:pPr>
            <a:r>
              <a:rPr lang="en-US" sz="2000" b="1" dirty="0" smtClean="0"/>
              <a:t>Immediate Updates : </a:t>
            </a:r>
            <a:r>
              <a:rPr lang="en-US" sz="2000" dirty="0" smtClean="0"/>
              <a:t>Any changes made to information are reflected immediately to all the users.</a:t>
            </a:r>
          </a:p>
          <a:p>
            <a:pPr>
              <a:buNone/>
            </a:pPr>
            <a:r>
              <a:rPr lang="en-US" sz="2000" b="1" dirty="0" smtClean="0"/>
              <a:t>Time Saving </a:t>
            </a:r>
            <a:r>
              <a:rPr lang="en-US" sz="2000" dirty="0" smtClean="0"/>
              <a:t>: Information on Intranet is shared in real time.</a:t>
            </a:r>
          </a:p>
          <a:p>
            <a:pPr>
              <a:buNone/>
            </a:pPr>
            <a:r>
              <a:rPr lang="en-US" sz="2000" b="1" dirty="0" smtClean="0"/>
              <a:t>Collaboration</a:t>
            </a:r>
            <a:r>
              <a:rPr lang="en-US" sz="2000" dirty="0" smtClean="0"/>
              <a:t> : Information is distributed among the employees as according to requirement and it can be accessed by the authorized users, resulting in enhanced teamwork.</a:t>
            </a:r>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lgn="just">
              <a:buNone/>
            </a:pP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438912"/>
          </a:xfrm>
        </p:spPr>
        <p:txBody>
          <a:bodyPr>
            <a:normAutofit fontScale="90000"/>
          </a:bodyPr>
          <a:lstStyle/>
          <a:p>
            <a:r>
              <a:rPr lang="en-US" sz="2000" b="1" u="sng" dirty="0" smtClean="0">
                <a:solidFill>
                  <a:schemeClr val="tx1"/>
                </a:solidFill>
                <a:latin typeface="+mn-lt"/>
                <a:ea typeface="+mn-ea"/>
                <a:cs typeface="+mn-cs"/>
              </a:rPr>
              <a:t>Disadvantage</a:t>
            </a:r>
          </a:p>
        </p:txBody>
      </p:sp>
      <p:pic>
        <p:nvPicPr>
          <p:cNvPr id="1026" name="Picture 2"/>
          <p:cNvPicPr>
            <a:picLocks noGrp="1" noChangeAspect="1" noChangeArrowheads="1"/>
          </p:cNvPicPr>
          <p:nvPr>
            <p:ph sz="quarter" idx="1"/>
          </p:nvPr>
        </p:nvPicPr>
        <p:blipFill>
          <a:blip r:embed="rId2" cstate="print"/>
          <a:srcRect/>
          <a:stretch>
            <a:fillRect/>
          </a:stretch>
        </p:blipFill>
        <p:spPr bwMode="auto">
          <a:xfrm>
            <a:off x="685800" y="609600"/>
            <a:ext cx="7724172" cy="59436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248400"/>
          </a:xfrm>
        </p:spPr>
        <p:txBody>
          <a:bodyPr>
            <a:normAutofit/>
          </a:bodyPr>
          <a:lstStyle/>
          <a:p>
            <a:pPr algn="just">
              <a:buNone/>
            </a:pPr>
            <a:r>
              <a:rPr lang="en-US" sz="2400" b="1" dirty="0" smtClean="0"/>
              <a:t>What is Extranet?</a:t>
            </a:r>
          </a:p>
          <a:p>
            <a:pPr algn="just"/>
            <a:r>
              <a:rPr lang="en-US" sz="2000" dirty="0" smtClean="0"/>
              <a:t> An </a:t>
            </a:r>
            <a:r>
              <a:rPr lang="en-US" sz="2000" b="1" dirty="0" smtClean="0"/>
              <a:t>extranet</a:t>
            </a:r>
            <a:r>
              <a:rPr lang="en-US" sz="2000" dirty="0" smtClean="0"/>
              <a:t> is like an </a:t>
            </a:r>
            <a:r>
              <a:rPr lang="en-US" sz="2000" b="1" dirty="0" smtClean="0"/>
              <a:t>intranet</a:t>
            </a:r>
            <a:r>
              <a:rPr lang="en-US" sz="2000" dirty="0" smtClean="0"/>
              <a:t>, but also </a:t>
            </a:r>
            <a:r>
              <a:rPr lang="en-US" sz="2000" b="1" dirty="0" smtClean="0"/>
              <a:t>provides controlled </a:t>
            </a:r>
            <a:r>
              <a:rPr lang="en-US" sz="2000" dirty="0" smtClean="0"/>
              <a:t>access to authorized customers, vendors, partners, or others outside the company.</a:t>
            </a:r>
          </a:p>
          <a:p>
            <a:pPr algn="just"/>
            <a:r>
              <a:rPr lang="en-US" sz="2000" dirty="0" smtClean="0"/>
              <a:t>The important thing to bear in mind is that extranets </a:t>
            </a:r>
            <a:r>
              <a:rPr lang="en-US" sz="2000" b="1" dirty="0" smtClean="0"/>
              <a:t>exist to create a path of communication between your internal staff and external organizations</a:t>
            </a:r>
            <a:r>
              <a:rPr lang="en-US" sz="2000" dirty="0" smtClean="0"/>
              <a:t>, whether they be customers, suppliers, or business partners. </a:t>
            </a:r>
          </a:p>
          <a:p>
            <a:pPr algn="just"/>
            <a:r>
              <a:rPr lang="en-US" sz="2000" dirty="0" smtClean="0"/>
              <a:t>An extranet provides a place for your business and third parties to work together and share information in a secure environment, which sits outside of your intranet – meaning that external partners will not have access to confidential internal matters.</a:t>
            </a:r>
          </a:p>
          <a:p>
            <a:pPr algn="just"/>
            <a:r>
              <a:rPr lang="en-US" sz="2000" b="1" dirty="0" smtClean="0"/>
              <a:t>An Extranet is actually an Intranet that is partially accessible to authorized outsiders.</a:t>
            </a:r>
          </a:p>
          <a:p>
            <a:pPr algn="just"/>
            <a:r>
              <a:rPr lang="en-US" sz="2000" dirty="0" smtClean="0"/>
              <a:t>The level of access can be set to different levels for individuals or groups of outside users. The access can be based on a username and password or an IP address.</a:t>
            </a:r>
          </a:p>
          <a:p>
            <a:pPr algn="just"/>
            <a:r>
              <a:rPr lang="en-US" sz="2000" dirty="0" smtClean="0"/>
              <a:t>Extranet is used for specific use cases including B-2-B.</a:t>
            </a:r>
          </a:p>
          <a:p>
            <a:pPr algn="just">
              <a:buNone/>
            </a:pP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382000" cy="6248400"/>
          </a:xfrm>
        </p:spPr>
        <p:txBody>
          <a:bodyPr>
            <a:normAutofit/>
          </a:bodyPr>
          <a:lstStyle/>
          <a:p>
            <a:pPr algn="just"/>
            <a:endParaRPr lang="en-US" sz="2000" dirty="0" smtClean="0"/>
          </a:p>
          <a:p>
            <a:pPr algn="just"/>
            <a:r>
              <a:rPr lang="en-US" sz="2000" b="1" dirty="0" smtClean="0"/>
              <a:t>An extranet is an extended intranet. </a:t>
            </a:r>
            <a:r>
              <a:rPr lang="en-US" sz="2000" dirty="0" smtClean="0"/>
              <a:t>In addition to allowing access to members of an organization, an extranet uses firewalls, access profiles, and privacy protocols to allow access to users from outside the organization.</a:t>
            </a:r>
          </a:p>
          <a:p>
            <a:pPr algn="just"/>
            <a:endParaRPr lang="en-US" sz="2000" dirty="0" smtClean="0"/>
          </a:p>
          <a:p>
            <a:pPr algn="just"/>
            <a:endParaRPr lang="en-US" sz="2000" dirty="0"/>
          </a:p>
        </p:txBody>
      </p:sp>
      <p:pic>
        <p:nvPicPr>
          <p:cNvPr id="4" name="Picture 3" descr="Untitled.png"/>
          <p:cNvPicPr>
            <a:picLocks noChangeAspect="1"/>
          </p:cNvPicPr>
          <p:nvPr/>
        </p:nvPicPr>
        <p:blipFill>
          <a:blip r:embed="rId2" cstate="print"/>
          <a:stretch>
            <a:fillRect/>
          </a:stretch>
        </p:blipFill>
        <p:spPr>
          <a:xfrm>
            <a:off x="1600200" y="2057400"/>
            <a:ext cx="5943600" cy="427939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019800"/>
          </a:xfrm>
        </p:spPr>
        <p:txBody>
          <a:bodyPr>
            <a:normAutofit/>
          </a:bodyPr>
          <a:lstStyle/>
          <a:p>
            <a:pPr>
              <a:buNone/>
            </a:pPr>
            <a:r>
              <a:rPr lang="en-US" sz="2000" b="1" dirty="0" smtClean="0"/>
              <a:t>Advantage of extranet</a:t>
            </a:r>
          </a:p>
          <a:p>
            <a:pPr>
              <a:buNone/>
            </a:pPr>
            <a:endParaRPr lang="en-US" sz="2000" dirty="0"/>
          </a:p>
        </p:txBody>
      </p:sp>
      <p:pic>
        <p:nvPicPr>
          <p:cNvPr id="4" name="Picture 3" descr="Untitled.png"/>
          <p:cNvPicPr>
            <a:picLocks noChangeAspect="1"/>
          </p:cNvPicPr>
          <p:nvPr/>
        </p:nvPicPr>
        <p:blipFill>
          <a:blip r:embed="rId2" cstate="print"/>
          <a:stretch>
            <a:fillRect/>
          </a:stretch>
        </p:blipFill>
        <p:spPr>
          <a:xfrm>
            <a:off x="685800" y="609600"/>
            <a:ext cx="7719712" cy="589940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382000" cy="6172200"/>
          </a:xfrm>
        </p:spPr>
        <p:txBody>
          <a:bodyPr>
            <a:normAutofit/>
          </a:bodyPr>
          <a:lstStyle/>
          <a:p>
            <a:pPr>
              <a:buNone/>
            </a:pPr>
            <a:r>
              <a:rPr lang="en-US" sz="2000" b="1" dirty="0" smtClean="0"/>
              <a:t>Disadvantage</a:t>
            </a:r>
          </a:p>
          <a:p>
            <a:pPr>
              <a:buNone/>
            </a:pPr>
            <a:endParaRPr lang="en-US" sz="2000" b="1" dirty="0" smtClean="0"/>
          </a:p>
          <a:p>
            <a:pPr>
              <a:buNone/>
            </a:pPr>
            <a:r>
              <a:rPr lang="en-US" sz="2000" b="1" dirty="0" smtClean="0"/>
              <a:t>Hosting</a:t>
            </a:r>
            <a:r>
              <a:rPr lang="en-US" sz="2000" dirty="0" smtClean="0"/>
              <a:t> : Where the extranet pages will be held i.e. who will host the extranet pages. In this context there are two choices:</a:t>
            </a:r>
          </a:p>
          <a:p>
            <a:pPr lvl="1"/>
            <a:r>
              <a:rPr lang="en-US" sz="1800" dirty="0" smtClean="0"/>
              <a:t>Host it on your own server.</a:t>
            </a:r>
          </a:p>
          <a:p>
            <a:pPr lvl="1"/>
            <a:r>
              <a:rPr lang="en-US" sz="1800" dirty="0" smtClean="0"/>
              <a:t>Host it with an Internet Service Provider (ISP) in the same way as web pages.</a:t>
            </a:r>
          </a:p>
          <a:p>
            <a:pPr lvl="1"/>
            <a:r>
              <a:rPr lang="en-US" sz="1800" dirty="0" smtClean="0"/>
              <a:t>But hosting extranet pages on your own server requires high bandwidth internet connection which is very costly.</a:t>
            </a:r>
          </a:p>
          <a:p>
            <a:pPr>
              <a:buNone/>
            </a:pPr>
            <a:r>
              <a:rPr lang="en-US" sz="2000" b="1" dirty="0" smtClean="0"/>
              <a:t>Security</a:t>
            </a:r>
            <a:r>
              <a:rPr lang="en-US" sz="2000" dirty="0" smtClean="0"/>
              <a:t> : Additional firewall security is required if you host extranet pages on your own server which result in a complex security mechanism and increase work load.</a:t>
            </a:r>
          </a:p>
          <a:p>
            <a:pPr>
              <a:buNone/>
            </a:pPr>
            <a:r>
              <a:rPr lang="en-US" sz="2000" b="1" dirty="0" smtClean="0"/>
              <a:t>Accessing Issues </a:t>
            </a:r>
            <a:r>
              <a:rPr lang="en-US" sz="2000" dirty="0" smtClean="0"/>
              <a:t>: </a:t>
            </a:r>
            <a:r>
              <a:rPr lang="en-US" sz="2000" b="1" dirty="0" smtClean="0"/>
              <a:t>Information can not be accessed without internet connection. </a:t>
            </a:r>
            <a:r>
              <a:rPr lang="en-US" sz="2000" dirty="0" smtClean="0"/>
              <a:t>However, information can be accessed in Intranet without internet connection.</a:t>
            </a:r>
          </a:p>
          <a:p>
            <a:pPr>
              <a:buNone/>
            </a:pPr>
            <a:r>
              <a:rPr lang="en-US" sz="2000" b="1" dirty="0" smtClean="0"/>
              <a:t>Decreased Interaction </a:t>
            </a:r>
            <a:r>
              <a:rPr lang="en-US" sz="2000" dirty="0" smtClean="0"/>
              <a:t>: It decreases the face to face interaction in the business which results in lack of communication among customers, business partners and suppliers.</a:t>
            </a:r>
          </a:p>
          <a:p>
            <a:pPr>
              <a:buNone/>
            </a:pP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096000"/>
          </a:xfrm>
        </p:spPr>
        <p:txBody>
          <a:bodyPr/>
          <a:lstStyle/>
          <a:p>
            <a:pPr>
              <a:buNone/>
            </a:pPr>
            <a:r>
              <a:rPr lang="en-US" dirty="0" smtClean="0"/>
              <a:t>More about intranet and extranet</a:t>
            </a:r>
          </a:p>
          <a:p>
            <a:r>
              <a:rPr lang="en-US" sz="3600" dirty="0" smtClean="0">
                <a:hlinkClick r:id="rId2"/>
              </a:rPr>
              <a:t>http://</a:t>
            </a:r>
            <a:r>
              <a:rPr lang="en-US" sz="3600" dirty="0" smtClean="0">
                <a:hlinkClick r:id="rId2"/>
              </a:rPr>
              <a:t>www.brighthub.com/computing/enterprise-security/articles/63387.aspx</a:t>
            </a:r>
            <a:endParaRPr lang="en-US" sz="3600" dirty="0" smtClean="0"/>
          </a:p>
          <a:p>
            <a:r>
              <a:rPr lang="en-US" sz="3600" dirty="0" smtClean="0">
                <a:hlinkClick r:id="rId3"/>
              </a:rPr>
              <a:t>http://www.hcidata.info/inet.htm</a:t>
            </a:r>
            <a:endParaRPr lang="en-US" sz="3600" dirty="0" smtClean="0"/>
          </a:p>
          <a:p>
            <a:r>
              <a:rPr lang="en-US" sz="3600" dirty="0" smtClean="0">
                <a:hlinkClick r:id="rId4"/>
              </a:rPr>
              <a:t>https://www.claromentis.com/blog/whats-the-difference-between-intranets-and-extranets/</a:t>
            </a:r>
            <a:endParaRPr lang="en-US" sz="3600" dirty="0" smtClean="0"/>
          </a:p>
          <a:p>
            <a:r>
              <a:rPr lang="en-US" sz="3600" dirty="0" smtClean="0">
                <a:hlinkClick r:id="rId5"/>
              </a:rPr>
              <a:t>http://www.differencebetween.info/difference-between-intranet-and-extranet</a:t>
            </a:r>
            <a:endParaRPr lang="en-US" sz="3600" dirty="0" smtClean="0"/>
          </a:p>
          <a:p>
            <a:endParaRPr lang="en-US" sz="1400" dirty="0" smtClean="0"/>
          </a:p>
          <a:p>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dirty="0"/>
          </a:p>
        </p:txBody>
      </p:sp>
      <p:pic>
        <p:nvPicPr>
          <p:cNvPr id="4" name="Picture 2" descr="http://www.pptbackgroundstemplates.com/backgrounds/simple-notebook-on-black-ppt-backgrounds-powerpoint.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4"/>
          <p:cNvSpPr/>
          <p:nvPr/>
        </p:nvSpPr>
        <p:spPr>
          <a:xfrm>
            <a:off x="990600" y="609600"/>
            <a:ext cx="7339253" cy="923330"/>
          </a:xfrm>
          <a:prstGeom prst="rect">
            <a:avLst/>
          </a:prstGeom>
          <a:solidFill>
            <a:schemeClr val="accent2">
              <a:lumMod val="40000"/>
              <a:lumOff val="60000"/>
            </a:schemeClr>
          </a:solidFill>
        </p:spPr>
        <p:txBody>
          <a:bodyPr wrap="none" lIns="91440" tIns="45720" rIns="91440" bIns="45720">
            <a:spAutoFit/>
          </a:bodyPr>
          <a:lstStyle/>
          <a:p>
            <a:pPr algn="ctr"/>
            <a:r>
              <a:rPr lang="en-US" sz="54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Internet applications</a:t>
            </a:r>
            <a:endParaRPr lang="en-U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6" name="Content Placeholder 2"/>
          <p:cNvSpPr txBox="1">
            <a:spLocks/>
          </p:cNvSpPr>
          <p:nvPr/>
        </p:nvSpPr>
        <p:spPr>
          <a:xfrm>
            <a:off x="1981200" y="2209800"/>
            <a:ext cx="3124200" cy="990600"/>
          </a:xfrm>
          <a:prstGeom prst="rect">
            <a:avLst/>
          </a:prstGeom>
        </p:spPr>
        <p:txBody>
          <a:bodyPr vert="horz" lIns="91440" tIns="45720" rIns="91440" bIns="45720" rtlCol="0">
            <a:noAutofit/>
          </a:bodyPr>
          <a:lstStyle/>
          <a:p>
            <a:pPr marL="365760" marR="0" lvl="0" indent="-283464" defTabSz="914400" rtl="0" eaLnBrk="1" fontAlgn="auto" latinLnBrk="0" hangingPunct="1">
              <a:lnSpc>
                <a:spcPct val="100000"/>
              </a:lnSpc>
              <a:spcBef>
                <a:spcPct val="20000"/>
              </a:spcBef>
              <a:spcAft>
                <a:spcPts val="0"/>
              </a:spcAft>
              <a:buClrTx/>
              <a:buSzTx/>
              <a:buFont typeface="Wingdings 2"/>
              <a:buChar char=""/>
              <a:tabLst/>
              <a:defRPr/>
            </a:pPr>
            <a:r>
              <a:rPr kumimoji="0" lang="en-US" sz="3200" b="0" i="0" u="none" strike="noStrike" kern="1200" cap="none" spc="0" normalizeH="0" baseline="0" noProof="0" dirty="0" smtClean="0">
                <a:ln>
                  <a:noFill/>
                </a:ln>
                <a:effectLst/>
                <a:uLnTx/>
                <a:uFillTx/>
                <a:latin typeface="+mn-lt"/>
                <a:ea typeface="+mn-ea"/>
                <a:cs typeface="+mn-cs"/>
              </a:rPr>
              <a:t>Email</a:t>
            </a:r>
          </a:p>
          <a:p>
            <a:pPr marL="365760" marR="0" lvl="0" indent="-283464" defTabSz="914400" rtl="0" eaLnBrk="1" fontAlgn="auto" latinLnBrk="0" hangingPunct="1">
              <a:lnSpc>
                <a:spcPct val="100000"/>
              </a:lnSpc>
              <a:spcBef>
                <a:spcPct val="20000"/>
              </a:spcBef>
              <a:spcAft>
                <a:spcPts val="0"/>
              </a:spcAft>
              <a:buClrTx/>
              <a:buSzTx/>
              <a:buFont typeface="Wingdings 2"/>
              <a:buChar char=""/>
              <a:tabLst/>
              <a:defRPr/>
            </a:pPr>
            <a:r>
              <a:rPr kumimoji="0" lang="en-US" sz="3200" b="0" i="0" u="none" strike="noStrike" kern="1200" cap="none" spc="0" normalizeH="0" baseline="0" noProof="0" dirty="0" smtClean="0">
                <a:ln>
                  <a:noFill/>
                </a:ln>
                <a:effectLst/>
                <a:uLnTx/>
                <a:uFillTx/>
                <a:latin typeface="+mn-lt"/>
                <a:ea typeface="+mn-ea"/>
                <a:cs typeface="+mn-cs"/>
              </a:rPr>
              <a:t>Telnet</a:t>
            </a:r>
          </a:p>
          <a:p>
            <a:pPr marL="365760" marR="0" lvl="0" indent="-283464" defTabSz="914400" rtl="0" eaLnBrk="1" fontAlgn="auto" latinLnBrk="0" hangingPunct="1">
              <a:lnSpc>
                <a:spcPct val="100000"/>
              </a:lnSpc>
              <a:spcBef>
                <a:spcPct val="20000"/>
              </a:spcBef>
              <a:spcAft>
                <a:spcPts val="0"/>
              </a:spcAft>
              <a:buClrTx/>
              <a:buSzTx/>
              <a:buFont typeface="Wingdings 2"/>
              <a:buChar char=""/>
              <a:tabLst/>
              <a:defRPr/>
            </a:pPr>
            <a:r>
              <a:rPr kumimoji="0" lang="en-US" sz="3200" b="0" i="0" u="none" strike="noStrike" kern="1200" cap="none" spc="0" normalizeH="0" baseline="0" noProof="0" dirty="0" smtClean="0">
                <a:ln>
                  <a:noFill/>
                </a:ln>
                <a:effectLst/>
                <a:uLnTx/>
                <a:uFillTx/>
                <a:latin typeface="+mn-lt"/>
                <a:ea typeface="+mn-ea"/>
                <a:cs typeface="+mn-cs"/>
              </a:rPr>
              <a:t>FTP</a:t>
            </a:r>
            <a:endParaRPr kumimoji="0" lang="en-US" sz="3200" b="0" i="0" u="none" strike="noStrike" kern="1200" cap="none" spc="0" normalizeH="0" baseline="0" noProof="0" dirty="0">
              <a:ln>
                <a:noFill/>
              </a:ln>
              <a:effectLst/>
              <a:uLnTx/>
              <a:uFillTx/>
              <a:latin typeface="+mn-lt"/>
              <a:ea typeface="+mn-ea"/>
              <a:cs typeface="+mn-cs"/>
            </a:endParaRPr>
          </a:p>
        </p:txBody>
      </p:sp>
      <p:pic>
        <p:nvPicPr>
          <p:cNvPr id="7" name="Picture 2" descr="http://cdn.mysitemyway.com/etc-mysitemyway/icons/legacy-previews/icons-256/blue-jelly-icons-social-media-logos/098347-blue-jelly-icon-social-media-logos-mail.png"/>
          <p:cNvPicPr>
            <a:picLocks noChangeAspect="1" noChangeArrowheads="1"/>
          </p:cNvPicPr>
          <p:nvPr/>
        </p:nvPicPr>
        <p:blipFill>
          <a:blip r:embed="rId3" cstate="print"/>
          <a:srcRect/>
          <a:stretch>
            <a:fillRect/>
          </a:stretch>
        </p:blipFill>
        <p:spPr bwMode="auto">
          <a:xfrm>
            <a:off x="4648200" y="1295400"/>
            <a:ext cx="2209800" cy="2209800"/>
          </a:xfrm>
          <a:prstGeom prst="rect">
            <a:avLst/>
          </a:prstGeom>
          <a:noFill/>
        </p:spPr>
      </p:pic>
      <p:pic>
        <p:nvPicPr>
          <p:cNvPr id="8" name="Picture 4" descr="http://www.sastaservers.com/wp-content/uploads/2015/04/telnet2.jpg"/>
          <p:cNvPicPr>
            <a:picLocks noChangeAspect="1" noChangeArrowheads="1"/>
          </p:cNvPicPr>
          <p:nvPr/>
        </p:nvPicPr>
        <p:blipFill>
          <a:blip r:embed="rId4" cstate="print"/>
          <a:srcRect/>
          <a:stretch>
            <a:fillRect/>
          </a:stretch>
        </p:blipFill>
        <p:spPr bwMode="auto">
          <a:xfrm>
            <a:off x="4495800" y="3276600"/>
            <a:ext cx="3581400" cy="1970655"/>
          </a:xfrm>
          <a:prstGeom prst="rect">
            <a:avLst/>
          </a:prstGeom>
          <a:noFill/>
        </p:spPr>
      </p:pic>
      <p:sp>
        <p:nvSpPr>
          <p:cNvPr id="9" name="AutoShape 6" descr="https://multimedia.journalism.berkeley.edu/wp-content/uploads/2014/09/ftp_made_simple-mai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 name="Picture 8" descr="https://multimedia.journalism.berkeley.edu/wp-content/uploads/2014/09/ftp_made_simple-main.jpg"/>
          <p:cNvPicPr>
            <a:picLocks noChangeAspect="1" noChangeArrowheads="1"/>
          </p:cNvPicPr>
          <p:nvPr/>
        </p:nvPicPr>
        <p:blipFill>
          <a:blip r:embed="rId5" cstate="print"/>
          <a:srcRect/>
          <a:stretch>
            <a:fillRect/>
          </a:stretch>
        </p:blipFill>
        <p:spPr bwMode="auto">
          <a:xfrm>
            <a:off x="1295400" y="4114800"/>
            <a:ext cx="3431768" cy="2286000"/>
          </a:xfrm>
          <a:prstGeom prst="rect">
            <a:avLst/>
          </a:prstGeom>
          <a:noFill/>
        </p:spPr>
      </p:pic>
      <p:cxnSp>
        <p:nvCxnSpPr>
          <p:cNvPr id="11" name="Straight Arrow Connector 10"/>
          <p:cNvCxnSpPr/>
          <p:nvPr/>
        </p:nvCxnSpPr>
        <p:spPr>
          <a:xfrm flipV="1">
            <a:off x="3505200" y="2133600"/>
            <a:ext cx="1219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6200000" flipH="1">
            <a:off x="2971800" y="3810000"/>
            <a:ext cx="5334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3505200" y="3048000"/>
            <a:ext cx="14478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normAutofit fontScale="90000"/>
          </a:bodyPr>
          <a:lstStyle/>
          <a:p>
            <a:r>
              <a:rPr lang="en-US" dirty="0" smtClean="0"/>
              <a:t>Email: Electronic Mail</a:t>
            </a:r>
            <a:endParaRPr lang="en-US" dirty="0"/>
          </a:p>
        </p:txBody>
      </p:sp>
      <p:sp>
        <p:nvSpPr>
          <p:cNvPr id="3" name="Content Placeholder 2"/>
          <p:cNvSpPr>
            <a:spLocks noGrp="1"/>
          </p:cNvSpPr>
          <p:nvPr>
            <p:ph sz="quarter" idx="1"/>
          </p:nvPr>
        </p:nvSpPr>
        <p:spPr>
          <a:xfrm>
            <a:off x="457200" y="1143000"/>
            <a:ext cx="8229600" cy="5181600"/>
          </a:xfrm>
        </p:spPr>
        <p:txBody>
          <a:bodyPr>
            <a:normAutofit lnSpcReduction="10000"/>
          </a:bodyPr>
          <a:lstStyle/>
          <a:p>
            <a:pPr>
              <a:buNone/>
            </a:pPr>
            <a:r>
              <a:rPr lang="en-US" sz="2400" b="1" u="sng" dirty="0" smtClean="0"/>
              <a:t>Email : </a:t>
            </a:r>
          </a:p>
          <a:p>
            <a:pPr algn="just"/>
            <a:r>
              <a:rPr lang="en-US" sz="2400" dirty="0" smtClean="0"/>
              <a:t>E-mail, also known as </a:t>
            </a:r>
            <a:r>
              <a:rPr lang="en-US" sz="2400" u="sng" dirty="0" smtClean="0"/>
              <a:t>electronic mail, </a:t>
            </a:r>
            <a:r>
              <a:rPr lang="en-US" sz="2400" dirty="0" smtClean="0"/>
              <a:t>is the most widely used and successful of Internet applications.</a:t>
            </a:r>
          </a:p>
          <a:p>
            <a:pPr algn="just"/>
            <a:endParaRPr lang="en-US" sz="2400" dirty="0" smtClean="0"/>
          </a:p>
          <a:p>
            <a:pPr algn="just"/>
            <a:r>
              <a:rPr lang="en-US" sz="2400" dirty="0" smtClean="0"/>
              <a:t>First email message was sent in </a:t>
            </a:r>
            <a:r>
              <a:rPr lang="en-US" sz="2400" b="1" dirty="0" smtClean="0"/>
              <a:t>1971 by an engineer named  Ray Tomlinson.</a:t>
            </a:r>
          </a:p>
          <a:p>
            <a:pPr algn="just"/>
            <a:endParaRPr lang="en-US" sz="2400" b="1" dirty="0" smtClean="0"/>
          </a:p>
          <a:p>
            <a:pPr fontAlgn="base"/>
            <a:r>
              <a:rPr lang="en-US" sz="2400" dirty="0" smtClean="0"/>
              <a:t>An email is sending text-based messages and letter to any other internet user. But now a days We can also attach </a:t>
            </a:r>
            <a:r>
              <a:rPr lang="en-US" sz="2400" u="sng" dirty="0" smtClean="0"/>
              <a:t>picture, sound, video or document files </a:t>
            </a:r>
            <a:r>
              <a:rPr lang="en-US" sz="2400" dirty="0" smtClean="0"/>
              <a:t>with the e-mail.</a:t>
            </a:r>
          </a:p>
          <a:p>
            <a:pPr fontAlgn="base"/>
            <a:endParaRPr lang="en-US" sz="2400" dirty="0" smtClean="0"/>
          </a:p>
          <a:p>
            <a:pPr marL="342900" indent="-342900" algn="just">
              <a:buFont typeface="Arial" pitchFamily="34" charset="0"/>
              <a:buChar char="•"/>
              <a:defRPr/>
            </a:pPr>
            <a:r>
              <a:rPr lang="en-US" sz="2400" dirty="0" smtClean="0"/>
              <a:t>It saves times and money.</a:t>
            </a:r>
          </a:p>
          <a:p>
            <a:pPr marL="342900" indent="-342900" algn="just">
              <a:buFont typeface="Arial" pitchFamily="34" charset="0"/>
              <a:buChar char="•"/>
              <a:defRPr/>
            </a:pPr>
            <a:r>
              <a:rPr lang="en-US" sz="2400" dirty="0" smtClean="0"/>
              <a:t>It is easy to use and less expensive than the post.</a:t>
            </a:r>
          </a:p>
          <a:p>
            <a:pPr fontAlgn="base"/>
            <a:endParaRPr lang="en-US" sz="2800" dirty="0" smtClean="0"/>
          </a:p>
          <a:p>
            <a:pPr algn="just"/>
            <a:endParaRPr lang="en-US" sz="2800" dirty="0" smtClean="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7200"/>
            <a:ext cx="8229600" cy="5867400"/>
          </a:xfrm>
        </p:spPr>
        <p:txBody>
          <a:bodyPr>
            <a:normAutofit fontScale="92500" lnSpcReduction="20000"/>
          </a:bodyPr>
          <a:lstStyle/>
          <a:p>
            <a:pPr algn="just"/>
            <a:endParaRPr lang="en-US" sz="2000" b="1" dirty="0" smtClean="0"/>
          </a:p>
          <a:p>
            <a:pPr algn="just"/>
            <a:r>
              <a:rPr lang="en-US" sz="2000" dirty="0" smtClean="0"/>
              <a:t> Email operates across computer networks, which today is primarily the Internet.</a:t>
            </a:r>
          </a:p>
          <a:p>
            <a:pPr algn="just"/>
            <a:r>
              <a:rPr lang="en-US" sz="2000" dirty="0" smtClean="0"/>
              <a:t> Some early email systems required the author and the recipient to both be online at the same time, in common with instant messaging.</a:t>
            </a:r>
          </a:p>
          <a:p>
            <a:pPr algn="just">
              <a:buNone/>
            </a:pPr>
            <a:endParaRPr lang="en-US" sz="2000" dirty="0" smtClean="0"/>
          </a:p>
          <a:p>
            <a:pPr algn="just"/>
            <a:r>
              <a:rPr lang="en-US" sz="2000" dirty="0" smtClean="0"/>
              <a:t>Today's email systems are based on a store-and-forward model. Email servers accept, forward, deliver, and store messages. Neither the users nor their computers are required to be online simultaneously.</a:t>
            </a:r>
          </a:p>
          <a:p>
            <a:pPr algn="just"/>
            <a:endParaRPr lang="en-US" sz="2000" dirty="0" smtClean="0"/>
          </a:p>
          <a:p>
            <a:pPr algn="just"/>
            <a:r>
              <a:rPr lang="en-US" sz="2000" b="1" dirty="0" smtClean="0"/>
              <a:t>First the sender types the message or attach the file and sends it to the mail server or email service provider, the mail server forwards it to the next server through internet and satellite. Then the message is finally received by a receiver. </a:t>
            </a:r>
          </a:p>
          <a:p>
            <a:pPr algn="just"/>
            <a:endParaRPr lang="en-US" sz="2000" b="1" dirty="0" smtClean="0"/>
          </a:p>
          <a:p>
            <a:pPr marL="0" lvl="0" indent="0" algn="just">
              <a:buClrTx/>
              <a:buSzTx/>
              <a:buNone/>
              <a:defRPr/>
            </a:pPr>
            <a:r>
              <a:rPr lang="en-US" sz="2400" b="1" u="sng" dirty="0" smtClean="0"/>
              <a:t>Server Authentication </a:t>
            </a:r>
            <a:r>
              <a:rPr lang="en-US" sz="2400" b="1" dirty="0" smtClean="0"/>
              <a:t>:</a:t>
            </a:r>
          </a:p>
          <a:p>
            <a:pPr marL="0" lvl="0" indent="0" algn="just">
              <a:buClrTx/>
              <a:buSzTx/>
              <a:buNone/>
              <a:defRPr/>
            </a:pPr>
            <a:endParaRPr lang="en-US" sz="2400" b="1" dirty="0" smtClean="0"/>
          </a:p>
          <a:p>
            <a:pPr marL="0" lvl="0" indent="0" algn="just">
              <a:buClrTx/>
              <a:buSzTx/>
              <a:buNone/>
              <a:defRPr/>
            </a:pPr>
            <a:r>
              <a:rPr lang="en-US" sz="2000" dirty="0" smtClean="0"/>
              <a:t>To access an e-mail server, you will need to provide “authentication” – usually user id (or username) and passwords. This identifies you to the server and confirms that you have permission to check e-mail on that account. Although some servers use your e-mail address itself for the authentication user id</a:t>
            </a:r>
          </a:p>
          <a:p>
            <a:pPr algn="just"/>
            <a:endParaRPr lang="en-US" sz="20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515112"/>
          </a:xfrm>
        </p:spPr>
        <p:txBody>
          <a:bodyPr>
            <a:normAutofit fontScale="90000"/>
          </a:bodyPr>
          <a:lstStyle/>
          <a:p>
            <a:r>
              <a:rPr lang="en-US" dirty="0" smtClean="0"/>
              <a:t>Email Address</a:t>
            </a:r>
            <a:endParaRPr lang="en-US" dirty="0"/>
          </a:p>
        </p:txBody>
      </p:sp>
      <p:sp>
        <p:nvSpPr>
          <p:cNvPr id="3" name="Content Placeholder 2"/>
          <p:cNvSpPr>
            <a:spLocks noGrp="1"/>
          </p:cNvSpPr>
          <p:nvPr>
            <p:ph sz="quarter" idx="1"/>
          </p:nvPr>
        </p:nvSpPr>
        <p:spPr>
          <a:xfrm>
            <a:off x="457200" y="1143000"/>
            <a:ext cx="8229600" cy="5486400"/>
          </a:xfrm>
        </p:spPr>
        <p:txBody>
          <a:bodyPr>
            <a:normAutofit fontScale="85000" lnSpcReduction="10000"/>
          </a:bodyPr>
          <a:lstStyle/>
          <a:p>
            <a:pPr marL="342900" indent="-342900">
              <a:defRPr/>
            </a:pPr>
            <a:r>
              <a:rPr lang="en-US" sz="2800" dirty="0" smtClean="0"/>
              <a:t>An </a:t>
            </a:r>
            <a:r>
              <a:rPr lang="en-US" sz="2800" b="1" dirty="0" smtClean="0"/>
              <a:t>email address</a:t>
            </a:r>
            <a:r>
              <a:rPr lang="en-US" sz="2800" dirty="0" smtClean="0"/>
              <a:t> is the </a:t>
            </a:r>
            <a:r>
              <a:rPr lang="en-US" sz="2800" b="1" dirty="0" smtClean="0"/>
              <a:t>address of an electronic postbox</a:t>
            </a:r>
            <a:r>
              <a:rPr lang="en-US" sz="2800" dirty="0" smtClean="0"/>
              <a:t> that can receive (and send) email messages on a network.</a:t>
            </a:r>
          </a:p>
          <a:p>
            <a:pPr marL="0" lvl="0" indent="0" algn="just">
              <a:buClrTx/>
              <a:buSzTx/>
              <a:buFont typeface="Arial" pitchFamily="34" charset="0"/>
              <a:buChar char="•"/>
              <a:defRPr/>
            </a:pPr>
            <a:r>
              <a:rPr lang="en-US" sz="2800" dirty="0" smtClean="0"/>
              <a:t>Mostly e-mail address have following form</a:t>
            </a:r>
          </a:p>
          <a:p>
            <a:pPr marL="0" lvl="0" indent="0" algn="just">
              <a:buClrTx/>
              <a:buSzTx/>
              <a:buNone/>
              <a:defRPr/>
            </a:pPr>
            <a:r>
              <a:rPr lang="en-US" sz="2800" b="1" dirty="0" smtClean="0"/>
              <a:t>		</a:t>
            </a:r>
            <a:r>
              <a:rPr lang="en-US" sz="2800" b="1" dirty="0" smtClean="0">
                <a:hlinkClick r:id="rId2"/>
              </a:rPr>
              <a:t>username@domainname.com</a:t>
            </a:r>
            <a:endParaRPr lang="en-US" sz="2800" b="1" dirty="0" smtClean="0"/>
          </a:p>
          <a:p>
            <a:pPr marL="342900" indent="-342900">
              <a:defRPr/>
            </a:pPr>
            <a:endParaRPr lang="en-US" sz="2800" dirty="0" smtClean="0"/>
          </a:p>
          <a:p>
            <a:r>
              <a:rPr lang="en-US" sz="2800" dirty="0" smtClean="0"/>
              <a:t>For example, in the email address "</a:t>
            </a:r>
            <a:r>
              <a:rPr lang="en-US" sz="2800" b="1" dirty="0" smtClean="0"/>
              <a:t>me@example.com</a:t>
            </a:r>
            <a:r>
              <a:rPr lang="en-US" sz="2800" dirty="0" smtClean="0"/>
              <a:t>", "me" is the username and "</a:t>
            </a:r>
            <a:r>
              <a:rPr lang="en-US" sz="2800" b="1" dirty="0" smtClean="0"/>
              <a:t>example.com</a:t>
            </a:r>
            <a:r>
              <a:rPr lang="en-US" sz="2800" dirty="0" smtClean="0"/>
              <a:t>" the domain.</a:t>
            </a:r>
          </a:p>
          <a:p>
            <a:pPr marL="0" lvl="0" indent="0" algn="just">
              <a:buClrTx/>
              <a:buSzTx/>
              <a:buNone/>
              <a:defRPr/>
            </a:pPr>
            <a:endParaRPr lang="en-US" sz="2800" dirty="0" smtClean="0"/>
          </a:p>
          <a:p>
            <a:pPr marL="0" lvl="0" indent="0" algn="just">
              <a:buClrTx/>
              <a:buSzTx/>
              <a:buFont typeface="Arial" pitchFamily="34" charset="0"/>
              <a:buChar char="•"/>
              <a:defRPr/>
            </a:pPr>
            <a:r>
              <a:rPr lang="en-US" sz="2800" b="1" u="sng" dirty="0" smtClean="0"/>
              <a:t>Username is up to 64 character long with alphabets, number and symbol combination.</a:t>
            </a:r>
          </a:p>
          <a:p>
            <a:pPr marL="0" lvl="0" indent="0" algn="just">
              <a:buClrTx/>
              <a:buSzTx/>
              <a:buFont typeface="Arial" pitchFamily="34" charset="0"/>
              <a:buChar char="•"/>
              <a:defRPr/>
            </a:pPr>
            <a:endParaRPr lang="en-US" sz="2800" b="1" u="sng" dirty="0" smtClean="0"/>
          </a:p>
          <a:p>
            <a:pPr marL="0" lvl="0" indent="0" algn="just">
              <a:buClrTx/>
              <a:buSzTx/>
              <a:buFont typeface="Arial" pitchFamily="34" charset="0"/>
              <a:buChar char="•"/>
              <a:defRPr/>
            </a:pPr>
            <a:r>
              <a:rPr lang="en-US" sz="2800" b="1" u="sng" dirty="0" smtClean="0"/>
              <a:t>Domain name up to 256 character long.</a:t>
            </a:r>
          </a:p>
          <a:p>
            <a:pPr marL="0" lvl="0" indent="0" algn="just">
              <a:buClrTx/>
              <a:buSzTx/>
              <a:buFont typeface="Arial" pitchFamily="34" charset="0"/>
              <a:buChar char="•"/>
              <a:defRPr/>
            </a:pPr>
            <a:endParaRPr lang="en-US" sz="2800" u="sng" dirty="0" smtClean="0"/>
          </a:p>
          <a:p>
            <a:pPr marL="0" lvl="0" indent="0" algn="just">
              <a:buClrTx/>
              <a:buSzTx/>
              <a:buFont typeface="Arial" pitchFamily="34" charset="0"/>
              <a:buChar char="•"/>
              <a:defRPr/>
            </a:pPr>
            <a:r>
              <a:rPr lang="en-US" sz="2800" dirty="0" smtClean="0"/>
              <a:t>Every user on the internet has a unique e-mail address.</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marL="342900" indent="-342900">
              <a:defRPr/>
            </a:pPr>
            <a:r>
              <a:rPr lang="en-US" sz="2800" dirty="0" smtClean="0"/>
              <a:t>Email has two main part: (1) Header (2) Body.</a:t>
            </a:r>
          </a:p>
          <a:p>
            <a:pPr marL="342900" indent="-342900">
              <a:defRPr/>
            </a:pPr>
            <a:r>
              <a:rPr lang="en-US" sz="2800" b="1" dirty="0" smtClean="0"/>
              <a:t>Header </a:t>
            </a:r>
            <a:r>
              <a:rPr lang="en-US" sz="2800" dirty="0" smtClean="0"/>
              <a:t>contains your email address, recipient's email address and subject line.</a:t>
            </a:r>
          </a:p>
          <a:p>
            <a:pPr marL="342900" indent="-342900">
              <a:defRPr/>
            </a:pPr>
            <a:r>
              <a:rPr lang="en-US" sz="2800" b="1" dirty="0" smtClean="0"/>
              <a:t>Body</a:t>
            </a:r>
            <a:r>
              <a:rPr lang="en-US" sz="2800" dirty="0" smtClean="0"/>
              <a:t> Contains the message where you write the content of what you want to communicate.</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IN"/>
          </a:p>
        </p:txBody>
      </p:sp>
      <p:sp>
        <p:nvSpPr>
          <p:cNvPr id="2" name="Title 1"/>
          <p:cNvSpPr>
            <a:spLocks noGrp="1"/>
          </p:cNvSpPr>
          <p:nvPr>
            <p:ph type="ctrTitle"/>
          </p:nvPr>
        </p:nvSpPr>
        <p:spPr/>
        <p:txBody>
          <a:bodyPr/>
          <a:lstStyle/>
          <a:p>
            <a:endParaRPr lang="en-IN"/>
          </a:p>
        </p:txBody>
      </p:sp>
      <p:pic>
        <p:nvPicPr>
          <p:cNvPr id="1026" name="Picture 2" descr="http://www.pptbackgroundstemplates.com/backgrounds/simple-notebook-on-black-ppt-backgrounds-powerpoint.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p:cNvSpPr/>
          <p:nvPr/>
        </p:nvSpPr>
        <p:spPr>
          <a:xfrm>
            <a:off x="1143000" y="685800"/>
            <a:ext cx="7620000" cy="2529923"/>
          </a:xfrm>
          <a:prstGeom prst="rect">
            <a:avLst/>
          </a:prstGeom>
        </p:spPr>
        <p:txBody>
          <a:bodyPr wrap="square">
            <a:spAutoFit/>
          </a:bodyPr>
          <a:lstStyle/>
          <a:p>
            <a:pPr marL="342900" indent="-342900" algn="just" fontAlgn="auto">
              <a:spcBef>
                <a:spcPct val="20000"/>
              </a:spcBef>
              <a:spcAft>
                <a:spcPts val="0"/>
              </a:spcAft>
              <a:buFont typeface="Arial" pitchFamily="34" charset="0"/>
              <a:buChar char="•"/>
              <a:defRPr/>
            </a:pPr>
            <a:r>
              <a:rPr lang="en-US" sz="2400" dirty="0" smtClean="0"/>
              <a:t>Email has two main part: (1) Header (2) Body.</a:t>
            </a:r>
          </a:p>
          <a:p>
            <a:pPr marL="342900" indent="-342900" algn="just" fontAlgn="auto">
              <a:spcBef>
                <a:spcPct val="20000"/>
              </a:spcBef>
              <a:spcAft>
                <a:spcPts val="0"/>
              </a:spcAft>
              <a:buFont typeface="Arial" pitchFamily="34" charset="0"/>
              <a:buChar char="•"/>
              <a:defRPr/>
            </a:pPr>
            <a:endParaRPr lang="en-US" sz="2400" dirty="0" smtClean="0"/>
          </a:p>
          <a:p>
            <a:pPr marL="342900" indent="-342900" algn="just" fontAlgn="auto">
              <a:spcBef>
                <a:spcPct val="20000"/>
              </a:spcBef>
              <a:spcAft>
                <a:spcPts val="0"/>
              </a:spcAft>
              <a:buFont typeface="Arial" pitchFamily="34" charset="0"/>
              <a:buChar char="•"/>
              <a:defRPr/>
            </a:pPr>
            <a:r>
              <a:rPr lang="en-US" sz="2400" b="1" dirty="0" smtClean="0"/>
              <a:t>Header</a:t>
            </a:r>
            <a:r>
              <a:rPr lang="en-US" sz="2400" dirty="0" smtClean="0"/>
              <a:t> contains your email address, recipient's email address and subject line.</a:t>
            </a:r>
          </a:p>
          <a:p>
            <a:pPr marL="342900" indent="-342900" algn="just" fontAlgn="auto">
              <a:spcBef>
                <a:spcPct val="20000"/>
              </a:spcBef>
              <a:spcAft>
                <a:spcPts val="0"/>
              </a:spcAft>
              <a:buFont typeface="Arial" pitchFamily="34" charset="0"/>
              <a:buChar char="•"/>
              <a:defRPr/>
            </a:pPr>
            <a:r>
              <a:rPr lang="en-US" sz="2400" b="1" dirty="0" smtClean="0"/>
              <a:t>Body</a:t>
            </a:r>
            <a:r>
              <a:rPr lang="en-US" sz="2400" dirty="0" smtClean="0"/>
              <a:t> Contains the message where you write the content of what you want to communicate.</a:t>
            </a:r>
            <a:endParaRPr lang="en-US" sz="2400" dirty="0"/>
          </a:p>
        </p:txBody>
      </p:sp>
      <p:pic>
        <p:nvPicPr>
          <p:cNvPr id="7" name="Picture 6" descr="E-mail Format.jpg"/>
          <p:cNvPicPr>
            <a:picLocks noChangeAspect="1"/>
          </p:cNvPicPr>
          <p:nvPr/>
        </p:nvPicPr>
        <p:blipFill>
          <a:blip r:embed="rId3" cstate="print"/>
          <a:stretch>
            <a:fillRect/>
          </a:stretch>
        </p:blipFill>
        <p:spPr>
          <a:xfrm>
            <a:off x="1219200" y="304800"/>
            <a:ext cx="7620000" cy="6276632"/>
          </a:xfrm>
          <a:prstGeom prst="rect">
            <a:avLst/>
          </a:prstGeom>
        </p:spPr>
      </p:pic>
      <p:sp>
        <p:nvSpPr>
          <p:cNvPr id="8" name="TextBox 7"/>
          <p:cNvSpPr txBox="1"/>
          <p:nvPr/>
        </p:nvSpPr>
        <p:spPr>
          <a:xfrm>
            <a:off x="4876800" y="914400"/>
            <a:ext cx="2389565" cy="461665"/>
          </a:xfrm>
          <a:prstGeom prst="rect">
            <a:avLst/>
          </a:prstGeom>
          <a:noFill/>
        </p:spPr>
        <p:txBody>
          <a:bodyPr wrap="none" rtlCol="0">
            <a:spAutoFit/>
          </a:bodyPr>
          <a:lstStyle/>
          <a:p>
            <a:r>
              <a:rPr lang="en-US" sz="2400" dirty="0" smtClean="0">
                <a:solidFill>
                  <a:schemeClr val="bg1"/>
                </a:solidFill>
              </a:rPr>
              <a:t>Address/User ID</a:t>
            </a:r>
            <a:endParaRPr lang="en-US" sz="2400" dirty="0">
              <a:solidFill>
                <a:schemeClr val="bg1"/>
              </a:solidFill>
            </a:endParaRPr>
          </a:p>
        </p:txBody>
      </p:sp>
      <p:sp>
        <p:nvSpPr>
          <p:cNvPr id="10" name="TextBox 9"/>
          <p:cNvSpPr txBox="1"/>
          <p:nvPr/>
        </p:nvSpPr>
        <p:spPr>
          <a:xfrm>
            <a:off x="3276600" y="1752600"/>
            <a:ext cx="2707088" cy="461665"/>
          </a:xfrm>
          <a:prstGeom prst="rect">
            <a:avLst/>
          </a:prstGeom>
          <a:noFill/>
        </p:spPr>
        <p:txBody>
          <a:bodyPr wrap="none" rtlCol="0">
            <a:spAutoFit/>
          </a:bodyPr>
          <a:lstStyle/>
          <a:p>
            <a:r>
              <a:rPr lang="en-US" sz="2400" dirty="0" smtClean="0">
                <a:solidFill>
                  <a:schemeClr val="bg1"/>
                </a:solidFill>
              </a:rPr>
              <a:t>Blind Carbon Copy</a:t>
            </a:r>
            <a:endParaRPr lang="en-US" sz="2400" dirty="0">
              <a:solidFill>
                <a:schemeClr val="bg1"/>
              </a:solidFill>
            </a:endParaRPr>
          </a:p>
        </p:txBody>
      </p:sp>
      <p:sp>
        <p:nvSpPr>
          <p:cNvPr id="11" name="TextBox 10"/>
          <p:cNvSpPr txBox="1"/>
          <p:nvPr/>
        </p:nvSpPr>
        <p:spPr>
          <a:xfrm>
            <a:off x="2743200" y="2286000"/>
            <a:ext cx="3989169" cy="461665"/>
          </a:xfrm>
          <a:prstGeom prst="rect">
            <a:avLst/>
          </a:prstGeom>
          <a:noFill/>
        </p:spPr>
        <p:txBody>
          <a:bodyPr wrap="none" rtlCol="0">
            <a:spAutoFit/>
          </a:bodyPr>
          <a:lstStyle/>
          <a:p>
            <a:r>
              <a:rPr lang="en-US" sz="2400" dirty="0" smtClean="0">
                <a:solidFill>
                  <a:schemeClr val="bg1"/>
                </a:solidFill>
              </a:rPr>
              <a:t>Title regarding your message</a:t>
            </a:r>
            <a:endParaRPr lang="en-US" sz="2400" dirty="0">
              <a:solidFill>
                <a:schemeClr val="bg1"/>
              </a:solidFill>
            </a:endParaRPr>
          </a:p>
        </p:txBody>
      </p:sp>
      <p:sp>
        <p:nvSpPr>
          <p:cNvPr id="12" name="TextBox 11"/>
          <p:cNvSpPr txBox="1"/>
          <p:nvPr/>
        </p:nvSpPr>
        <p:spPr>
          <a:xfrm>
            <a:off x="3962400" y="2895600"/>
            <a:ext cx="1984839" cy="461665"/>
          </a:xfrm>
          <a:prstGeom prst="rect">
            <a:avLst/>
          </a:prstGeom>
          <a:noFill/>
        </p:spPr>
        <p:txBody>
          <a:bodyPr wrap="none" rtlCol="0">
            <a:spAutoFit/>
          </a:bodyPr>
          <a:lstStyle/>
          <a:p>
            <a:r>
              <a:rPr lang="en-US" sz="2400" dirty="0" smtClean="0">
                <a:solidFill>
                  <a:schemeClr val="bg1"/>
                </a:solidFill>
              </a:rPr>
              <a:t>Your Message</a:t>
            </a:r>
            <a:endParaRPr lang="en-US" sz="2400" dirty="0">
              <a:solidFill>
                <a:schemeClr val="bg1"/>
              </a:solidFill>
            </a:endParaRPr>
          </a:p>
        </p:txBody>
      </p:sp>
      <p:cxnSp>
        <p:nvCxnSpPr>
          <p:cNvPr id="14" name="Straight Arrow Connector 13"/>
          <p:cNvCxnSpPr/>
          <p:nvPr/>
        </p:nvCxnSpPr>
        <p:spPr>
          <a:xfrm>
            <a:off x="3733800" y="1066800"/>
            <a:ext cx="990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1676400" y="1447800"/>
            <a:ext cx="1905000" cy="1546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0" idx="1"/>
          </p:cNvCxnSpPr>
          <p:nvPr/>
        </p:nvCxnSpPr>
        <p:spPr>
          <a:xfrm>
            <a:off x="1676400" y="1905000"/>
            <a:ext cx="1600200" cy="784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11" idx="1"/>
          </p:cNvCxnSpPr>
          <p:nvPr/>
        </p:nvCxnSpPr>
        <p:spPr>
          <a:xfrm>
            <a:off x="2057400" y="2438400"/>
            <a:ext cx="685800" cy="784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209800" y="3048000"/>
            <a:ext cx="1828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990600" y="2819400"/>
            <a:ext cx="7848600" cy="3810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p:nvSpPr>
        <p:spPr>
          <a:xfrm>
            <a:off x="990600" y="381000"/>
            <a:ext cx="7848600" cy="2286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7315200" y="1524000"/>
            <a:ext cx="1401794" cy="523220"/>
          </a:xfrm>
          <a:prstGeom prst="rect">
            <a:avLst/>
          </a:prstGeom>
          <a:noFill/>
        </p:spPr>
        <p:txBody>
          <a:bodyPr wrap="none" rtlCol="0">
            <a:spAutoFit/>
          </a:bodyPr>
          <a:lstStyle/>
          <a:p>
            <a:r>
              <a:rPr lang="en-US" sz="2800" b="1" dirty="0" smtClean="0">
                <a:solidFill>
                  <a:schemeClr val="accent2">
                    <a:lumMod val="75000"/>
                  </a:schemeClr>
                </a:solidFill>
              </a:rPr>
              <a:t>HEADER</a:t>
            </a:r>
            <a:endParaRPr lang="en-US" sz="2800" b="1" dirty="0">
              <a:solidFill>
                <a:schemeClr val="accent2">
                  <a:lumMod val="75000"/>
                </a:schemeClr>
              </a:solidFill>
            </a:endParaRPr>
          </a:p>
        </p:txBody>
      </p:sp>
      <p:sp>
        <p:nvSpPr>
          <p:cNvPr id="26" name="TextBox 25"/>
          <p:cNvSpPr txBox="1"/>
          <p:nvPr/>
        </p:nvSpPr>
        <p:spPr>
          <a:xfrm>
            <a:off x="4419600" y="4419600"/>
            <a:ext cx="1153073" cy="584775"/>
          </a:xfrm>
          <a:prstGeom prst="rect">
            <a:avLst/>
          </a:prstGeom>
          <a:noFill/>
        </p:spPr>
        <p:txBody>
          <a:bodyPr wrap="none" rtlCol="0">
            <a:spAutoFit/>
          </a:bodyPr>
          <a:lstStyle/>
          <a:p>
            <a:r>
              <a:rPr lang="en-US" sz="3200" b="1" dirty="0" smtClean="0">
                <a:solidFill>
                  <a:schemeClr val="accent2">
                    <a:lumMod val="75000"/>
                  </a:schemeClr>
                </a:solidFill>
              </a:rPr>
              <a:t>BODY</a:t>
            </a:r>
            <a:endParaRPr lang="en-US" sz="3200" b="1" dirty="0">
              <a:solidFill>
                <a:schemeClr val="accent2">
                  <a:lumMod val="75000"/>
                </a:schemeClr>
              </a:solidFill>
            </a:endParaRPr>
          </a:p>
        </p:txBody>
      </p:sp>
      <p:sp>
        <p:nvSpPr>
          <p:cNvPr id="22" name="TextBox 21"/>
          <p:cNvSpPr txBox="1"/>
          <p:nvPr/>
        </p:nvSpPr>
        <p:spPr>
          <a:xfrm>
            <a:off x="3657600" y="1371600"/>
            <a:ext cx="1995354" cy="461665"/>
          </a:xfrm>
          <a:prstGeom prst="rect">
            <a:avLst/>
          </a:prstGeom>
          <a:noFill/>
        </p:spPr>
        <p:txBody>
          <a:bodyPr wrap="none" rtlCol="0">
            <a:spAutoFit/>
          </a:bodyPr>
          <a:lstStyle/>
          <a:p>
            <a:r>
              <a:rPr lang="en-US" sz="2400" dirty="0" smtClean="0">
                <a:solidFill>
                  <a:schemeClr val="bg1"/>
                </a:solidFill>
              </a:rPr>
              <a:t> Carbon Copy</a:t>
            </a:r>
            <a:endParaRPr lang="en-US" sz="2400" dirty="0">
              <a:solidFill>
                <a:schemeClr val="bg1"/>
              </a:solidFill>
            </a:endParaRPr>
          </a:p>
        </p:txBody>
      </p:sp>
    </p:spTree>
    <p:extLst>
      <p:ext uri="{BB962C8B-B14F-4D97-AF65-F5344CB8AC3E}">
        <p14:creationId xmlns:p14="http://schemas.microsoft.com/office/powerpoint/2010/main" xmlns="" val="564095113"/>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500" fill="hold"/>
                                        <p:tgtEl>
                                          <p:spTgt spid="14"/>
                                        </p:tgtEl>
                                        <p:attrNameLst>
                                          <p:attrName>ppt_w</p:attrName>
                                        </p:attrNameLst>
                                      </p:cBhvr>
                                      <p:tavLst>
                                        <p:tav tm="0">
                                          <p:val>
                                            <p:fltVal val="0"/>
                                          </p:val>
                                        </p:tav>
                                        <p:tav tm="100000">
                                          <p:val>
                                            <p:strVal val="#ppt_w"/>
                                          </p:val>
                                        </p:tav>
                                      </p:tavLst>
                                    </p:anim>
                                    <p:anim calcmode="lin" valueType="num">
                                      <p:cBhvr>
                                        <p:cTn id="14" dur="500" fill="hold"/>
                                        <p:tgtEl>
                                          <p:spTgt spid="14"/>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p:cTn id="23" dur="500" fill="hold"/>
                                        <p:tgtEl>
                                          <p:spTgt spid="15"/>
                                        </p:tgtEl>
                                        <p:attrNameLst>
                                          <p:attrName>ppt_w</p:attrName>
                                        </p:attrNameLst>
                                      </p:cBhvr>
                                      <p:tavLst>
                                        <p:tav tm="0">
                                          <p:val>
                                            <p:fltVal val="0"/>
                                          </p:val>
                                        </p:tav>
                                        <p:tav tm="100000">
                                          <p:val>
                                            <p:strVal val="#ppt_w"/>
                                          </p:val>
                                        </p:tav>
                                      </p:tavLst>
                                    </p:anim>
                                    <p:anim calcmode="lin" valueType="num">
                                      <p:cBhvr>
                                        <p:cTn id="24"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childTnLst>
                                </p:cTn>
                              </p:par>
                              <p:par>
                                <p:cTn id="31" presetID="23" presetClass="entr" presetSubtype="16"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p:cTn id="39" dur="500" fill="hold"/>
                                        <p:tgtEl>
                                          <p:spTgt spid="17"/>
                                        </p:tgtEl>
                                        <p:attrNameLst>
                                          <p:attrName>ppt_w</p:attrName>
                                        </p:attrNameLst>
                                      </p:cBhvr>
                                      <p:tavLst>
                                        <p:tav tm="0">
                                          <p:val>
                                            <p:fltVal val="0"/>
                                          </p:val>
                                        </p:tav>
                                        <p:tav tm="100000">
                                          <p:val>
                                            <p:strVal val="#ppt_w"/>
                                          </p:val>
                                        </p:tav>
                                      </p:tavLst>
                                    </p:anim>
                                    <p:anim calcmode="lin" valueType="num">
                                      <p:cBhvr>
                                        <p:cTn id="40" dur="500" fill="hold"/>
                                        <p:tgtEl>
                                          <p:spTgt spid="17"/>
                                        </p:tgtEl>
                                        <p:attrNameLst>
                                          <p:attrName>ppt_h</p:attrName>
                                        </p:attrNameLst>
                                      </p:cBhvr>
                                      <p:tavLst>
                                        <p:tav tm="0">
                                          <p:val>
                                            <p:fltVal val="0"/>
                                          </p:val>
                                        </p:tav>
                                        <p:tav tm="100000">
                                          <p:val>
                                            <p:strVal val="#ppt_h"/>
                                          </p:val>
                                        </p:tav>
                                      </p:tavLst>
                                    </p:anim>
                                  </p:childTnLst>
                                </p:cTn>
                              </p:par>
                              <p:par>
                                <p:cTn id="41" presetID="23" presetClass="entr" presetSubtype="16"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500" fill="hold"/>
                                        <p:tgtEl>
                                          <p:spTgt spid="11"/>
                                        </p:tgtEl>
                                        <p:attrNameLst>
                                          <p:attrName>ppt_w</p:attrName>
                                        </p:attrNameLst>
                                      </p:cBhvr>
                                      <p:tavLst>
                                        <p:tav tm="0">
                                          <p:val>
                                            <p:fltVal val="0"/>
                                          </p:val>
                                        </p:tav>
                                        <p:tav tm="100000">
                                          <p:val>
                                            <p:strVal val="#ppt_w"/>
                                          </p:val>
                                        </p:tav>
                                      </p:tavLst>
                                    </p:anim>
                                    <p:anim calcmode="lin" valueType="num">
                                      <p:cBhvr>
                                        <p:cTn id="44"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p:cTn id="49" dur="500" fill="hold"/>
                                        <p:tgtEl>
                                          <p:spTgt spid="18"/>
                                        </p:tgtEl>
                                        <p:attrNameLst>
                                          <p:attrName>ppt_w</p:attrName>
                                        </p:attrNameLst>
                                      </p:cBhvr>
                                      <p:tavLst>
                                        <p:tav tm="0">
                                          <p:val>
                                            <p:fltVal val="0"/>
                                          </p:val>
                                        </p:tav>
                                        <p:tav tm="100000">
                                          <p:val>
                                            <p:strVal val="#ppt_w"/>
                                          </p:val>
                                        </p:tav>
                                      </p:tavLst>
                                    </p:anim>
                                    <p:anim calcmode="lin" valueType="num">
                                      <p:cBhvr>
                                        <p:cTn id="50" dur="500" fill="hold"/>
                                        <p:tgtEl>
                                          <p:spTgt spid="18"/>
                                        </p:tgtEl>
                                        <p:attrNameLst>
                                          <p:attrName>ppt_h</p:attrName>
                                        </p:attrNameLst>
                                      </p:cBhvr>
                                      <p:tavLst>
                                        <p:tav tm="0">
                                          <p:val>
                                            <p:fltVal val="0"/>
                                          </p:val>
                                        </p:tav>
                                        <p:tav tm="100000">
                                          <p:val>
                                            <p:strVal val="#ppt_h"/>
                                          </p:val>
                                        </p:tav>
                                      </p:tavLst>
                                    </p:anim>
                                  </p:childTnLst>
                                </p:cTn>
                              </p:par>
                              <p:par>
                                <p:cTn id="51" presetID="23" presetClass="entr" presetSubtype="16"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p:cTn id="53" dur="500" fill="hold"/>
                                        <p:tgtEl>
                                          <p:spTgt spid="12"/>
                                        </p:tgtEl>
                                        <p:attrNameLst>
                                          <p:attrName>ppt_w</p:attrName>
                                        </p:attrNameLst>
                                      </p:cBhvr>
                                      <p:tavLst>
                                        <p:tav tm="0">
                                          <p:val>
                                            <p:fltVal val="0"/>
                                          </p:val>
                                        </p:tav>
                                        <p:tav tm="100000">
                                          <p:val>
                                            <p:strVal val="#ppt_w"/>
                                          </p:val>
                                        </p:tav>
                                      </p:tavLst>
                                    </p:anim>
                                    <p:anim calcmode="lin" valueType="num">
                                      <p:cBhvr>
                                        <p:cTn id="54"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23" presetClass="entr" presetSubtype="16"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 calcmode="lin" valueType="num">
                                      <p:cBhvr>
                                        <p:cTn id="59" dur="500" fill="hold"/>
                                        <p:tgtEl>
                                          <p:spTgt spid="24"/>
                                        </p:tgtEl>
                                        <p:attrNameLst>
                                          <p:attrName>ppt_w</p:attrName>
                                        </p:attrNameLst>
                                      </p:cBhvr>
                                      <p:tavLst>
                                        <p:tav tm="0">
                                          <p:val>
                                            <p:fltVal val="0"/>
                                          </p:val>
                                        </p:tav>
                                        <p:tav tm="100000">
                                          <p:val>
                                            <p:strVal val="#ppt_w"/>
                                          </p:val>
                                        </p:tav>
                                      </p:tavLst>
                                    </p:anim>
                                    <p:anim calcmode="lin" valueType="num">
                                      <p:cBhvr>
                                        <p:cTn id="60" dur="500" fill="hold"/>
                                        <p:tgtEl>
                                          <p:spTgt spid="24"/>
                                        </p:tgtEl>
                                        <p:attrNameLst>
                                          <p:attrName>ppt_h</p:attrName>
                                        </p:attrNameLst>
                                      </p:cBhvr>
                                      <p:tavLst>
                                        <p:tav tm="0">
                                          <p:val>
                                            <p:fltVal val="0"/>
                                          </p:val>
                                        </p:tav>
                                        <p:tav tm="100000">
                                          <p:val>
                                            <p:strVal val="#ppt_h"/>
                                          </p:val>
                                        </p:tav>
                                      </p:tavLst>
                                    </p:anim>
                                  </p:childTnLst>
                                </p:cTn>
                              </p:par>
                              <p:par>
                                <p:cTn id="61" presetID="23" presetClass="entr" presetSubtype="16"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 calcmode="lin" valueType="num">
                                      <p:cBhvr>
                                        <p:cTn id="63" dur="500" fill="hold"/>
                                        <p:tgtEl>
                                          <p:spTgt spid="25"/>
                                        </p:tgtEl>
                                        <p:attrNameLst>
                                          <p:attrName>ppt_w</p:attrName>
                                        </p:attrNameLst>
                                      </p:cBhvr>
                                      <p:tavLst>
                                        <p:tav tm="0">
                                          <p:val>
                                            <p:fltVal val="0"/>
                                          </p:val>
                                        </p:tav>
                                        <p:tav tm="100000">
                                          <p:val>
                                            <p:strVal val="#ppt_w"/>
                                          </p:val>
                                        </p:tav>
                                      </p:tavLst>
                                    </p:anim>
                                    <p:anim calcmode="lin" valueType="num">
                                      <p:cBhvr>
                                        <p:cTn id="64" dur="500" fill="hold"/>
                                        <p:tgtEl>
                                          <p:spTgt spid="25"/>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3" presetClass="entr" presetSubtype="16"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anim calcmode="lin" valueType="num">
                                      <p:cBhvr>
                                        <p:cTn id="69" dur="500" fill="hold"/>
                                        <p:tgtEl>
                                          <p:spTgt spid="23"/>
                                        </p:tgtEl>
                                        <p:attrNameLst>
                                          <p:attrName>ppt_w</p:attrName>
                                        </p:attrNameLst>
                                      </p:cBhvr>
                                      <p:tavLst>
                                        <p:tav tm="0">
                                          <p:val>
                                            <p:fltVal val="0"/>
                                          </p:val>
                                        </p:tav>
                                        <p:tav tm="100000">
                                          <p:val>
                                            <p:strVal val="#ppt_w"/>
                                          </p:val>
                                        </p:tav>
                                      </p:tavLst>
                                    </p:anim>
                                    <p:anim calcmode="lin" valueType="num">
                                      <p:cBhvr>
                                        <p:cTn id="70" dur="500" fill="hold"/>
                                        <p:tgtEl>
                                          <p:spTgt spid="23"/>
                                        </p:tgtEl>
                                        <p:attrNameLst>
                                          <p:attrName>ppt_h</p:attrName>
                                        </p:attrNameLst>
                                      </p:cBhvr>
                                      <p:tavLst>
                                        <p:tav tm="0">
                                          <p:val>
                                            <p:fltVal val="0"/>
                                          </p:val>
                                        </p:tav>
                                        <p:tav tm="100000">
                                          <p:val>
                                            <p:strVal val="#ppt_h"/>
                                          </p:val>
                                        </p:tav>
                                      </p:tavLst>
                                    </p:anim>
                                  </p:childTnLst>
                                </p:cTn>
                              </p:par>
                              <p:par>
                                <p:cTn id="71" presetID="23" presetClass="entr" presetSubtype="16"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 calcmode="lin" valueType="num">
                                      <p:cBhvr>
                                        <p:cTn id="73" dur="500" fill="hold"/>
                                        <p:tgtEl>
                                          <p:spTgt spid="26"/>
                                        </p:tgtEl>
                                        <p:attrNameLst>
                                          <p:attrName>ppt_w</p:attrName>
                                        </p:attrNameLst>
                                      </p:cBhvr>
                                      <p:tavLst>
                                        <p:tav tm="0">
                                          <p:val>
                                            <p:fltVal val="0"/>
                                          </p:val>
                                        </p:tav>
                                        <p:tav tm="100000">
                                          <p:val>
                                            <p:strVal val="#ppt_w"/>
                                          </p:val>
                                        </p:tav>
                                      </p:tavLst>
                                    </p:anim>
                                    <p:anim calcmode="lin" valueType="num">
                                      <p:cBhvr>
                                        <p:cTn id="74" dur="500" fill="hold"/>
                                        <p:tgtEl>
                                          <p:spTgt spid="26"/>
                                        </p:tgtEl>
                                        <p:attrNameLst>
                                          <p:attrName>ppt_h</p:attrName>
                                        </p:attrNameLst>
                                      </p:cBhvr>
                                      <p:tavLst>
                                        <p:tav tm="0">
                                          <p:val>
                                            <p:fltVal val="0"/>
                                          </p:val>
                                        </p:tav>
                                        <p:tav tm="100000">
                                          <p:val>
                                            <p:strVal val="#ppt_h"/>
                                          </p:val>
                                        </p:tav>
                                      </p:tavLst>
                                    </p:anim>
                                  </p:childTnLst>
                                </p:cTn>
                              </p:par>
                              <p:par>
                                <p:cTn id="75" presetID="23" presetClass="entr" presetSubtype="16"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p:cTn id="77" dur="500" fill="hold"/>
                                        <p:tgtEl>
                                          <p:spTgt spid="22"/>
                                        </p:tgtEl>
                                        <p:attrNameLst>
                                          <p:attrName>ppt_w</p:attrName>
                                        </p:attrNameLst>
                                      </p:cBhvr>
                                      <p:tavLst>
                                        <p:tav tm="0">
                                          <p:val>
                                            <p:fltVal val="0"/>
                                          </p:val>
                                        </p:tav>
                                        <p:tav tm="100000">
                                          <p:val>
                                            <p:strVal val="#ppt_w"/>
                                          </p:val>
                                        </p:tav>
                                      </p:tavLst>
                                    </p:anim>
                                    <p:anim calcmode="lin" valueType="num">
                                      <p:cBhvr>
                                        <p:cTn id="78" dur="500" fill="hold"/>
                                        <p:tgtEl>
                                          <p:spTgt spid="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P spid="23" grpId="0" animBg="1"/>
      <p:bldP spid="24" grpId="0" animBg="1"/>
      <p:bldP spid="25" grpId="0"/>
      <p:bldP spid="26" grpId="0"/>
      <p:bldP spid="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US" dirty="0" smtClean="0"/>
              <a:t>CC and BCC</a:t>
            </a:r>
            <a:endParaRPr lang="en-US" dirty="0"/>
          </a:p>
        </p:txBody>
      </p:sp>
      <p:sp>
        <p:nvSpPr>
          <p:cNvPr id="3" name="Content Placeholder 2"/>
          <p:cNvSpPr>
            <a:spLocks noGrp="1"/>
          </p:cNvSpPr>
          <p:nvPr>
            <p:ph sz="quarter" idx="1"/>
          </p:nvPr>
        </p:nvSpPr>
        <p:spPr>
          <a:xfrm>
            <a:off x="457200" y="1447800"/>
            <a:ext cx="8229600" cy="4876800"/>
          </a:xfrm>
        </p:spPr>
        <p:txBody>
          <a:bodyPr>
            <a:normAutofit/>
          </a:bodyPr>
          <a:lstStyle/>
          <a:p>
            <a:r>
              <a:rPr lang="en-US" u="sng" dirty="0" smtClean="0"/>
              <a:t>CC stands for Carbon Copy. </a:t>
            </a:r>
            <a:r>
              <a:rPr lang="en-US" dirty="0" smtClean="0"/>
              <a:t>When you CC people on an email, the </a:t>
            </a:r>
            <a:r>
              <a:rPr lang="en-US" u="sng" dirty="0" smtClean="0"/>
              <a:t>CC list is visible to all other recipients.</a:t>
            </a:r>
            <a:r>
              <a:rPr lang="en-US" dirty="0" smtClean="0"/>
              <a:t> For example, CC bob@example.com and jake@example.com on an email, Bob and Jake will both know that the other received the email, as well.</a:t>
            </a:r>
          </a:p>
          <a:p>
            <a:r>
              <a:rPr lang="en-US" u="sng" dirty="0" smtClean="0"/>
              <a:t>BCC stands for “blind carbon copy. </a:t>
            </a:r>
          </a:p>
          <a:p>
            <a:r>
              <a:rPr lang="en-US" dirty="0" smtClean="0"/>
              <a:t> no one but the sender can see the list of BCC recipients. For example, if you have bob@example.com and jake@example.com in the BCC list, neither Bob nor Jake will know that the other received the email.</a:t>
            </a:r>
            <a:endParaRPr lang="en-US" u="sng"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The To and CC fields work similarly. Whether you put four email addresses in the To field or put one email address in the To field and three in the CC field, the four people will all receive the same email. </a:t>
            </a:r>
            <a:r>
              <a:rPr lang="en-US" smtClean="0"/>
              <a:t>They’ll also be able to see the email address of every other recipients in the To and CC fields.</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019800"/>
          </a:xfrm>
        </p:spPr>
        <p:txBody>
          <a:bodyPr>
            <a:normAutofit/>
          </a:bodyPr>
          <a:lstStyle/>
          <a:p>
            <a:endParaRPr lang="en-US" sz="2000" dirty="0" smtClean="0"/>
          </a:p>
          <a:p>
            <a:endParaRPr lang="en-US" sz="2000" dirty="0" smtClean="0"/>
          </a:p>
          <a:p>
            <a:endParaRPr lang="en-US" sz="2000" dirty="0" smtClean="0"/>
          </a:p>
          <a:p>
            <a:endParaRPr lang="en-US" sz="2000" dirty="0" smtClean="0"/>
          </a:p>
          <a:p>
            <a:r>
              <a:rPr lang="en-US" sz="2000" dirty="0" smtClean="0"/>
              <a:t>E-mail is one of the protocols included with the Transport Control Protocol/Internet Protocol (</a:t>
            </a:r>
            <a:r>
              <a:rPr lang="en-US" sz="2000" u="sng" dirty="0" smtClean="0"/>
              <a:t>TCP/IP</a:t>
            </a:r>
            <a:r>
              <a:rPr lang="en-US" sz="2000" dirty="0" smtClean="0"/>
              <a:t>) suite of protocols. </a:t>
            </a:r>
          </a:p>
          <a:p>
            <a:endParaRPr lang="en-US" sz="2000" dirty="0" smtClean="0"/>
          </a:p>
          <a:p>
            <a:endParaRPr lang="en-US" sz="2000" dirty="0" smtClean="0"/>
          </a:p>
          <a:p>
            <a:r>
              <a:rPr lang="en-US" sz="2000" dirty="0" smtClean="0"/>
              <a:t>A popular protocol for sending and Receiving the Email</a:t>
            </a:r>
          </a:p>
          <a:p>
            <a:endParaRPr lang="en-US" sz="2000" dirty="0" smtClean="0"/>
          </a:p>
          <a:p>
            <a:r>
              <a:rPr lang="en-US" sz="2000" dirty="0" smtClean="0"/>
              <a:t>Sending e-mail is </a:t>
            </a:r>
            <a:r>
              <a:rPr lang="en-US" sz="2000" b="1" u="sng" dirty="0" smtClean="0"/>
              <a:t>Simple Mail Transfer Protocol</a:t>
            </a:r>
            <a:r>
              <a:rPr lang="en-US" sz="2000" dirty="0" smtClean="0"/>
              <a:t> </a:t>
            </a:r>
          </a:p>
          <a:p>
            <a:r>
              <a:rPr lang="en-US" sz="2000" dirty="0" smtClean="0"/>
              <a:t>Receiving it is </a:t>
            </a:r>
            <a:r>
              <a:rPr lang="en-US" sz="2000" u="sng" dirty="0" smtClean="0"/>
              <a:t>POP3 (</a:t>
            </a:r>
            <a:r>
              <a:rPr lang="en-US" sz="2000" b="1" dirty="0" smtClean="0"/>
              <a:t>Post Office Protocol version 3).</a:t>
            </a:r>
          </a:p>
          <a:p>
            <a:pPr marL="342900" indent="-342900">
              <a:defRPr/>
            </a:pPr>
            <a:endParaRPr lang="en-US" sz="2000" b="1" dirty="0" smtClean="0"/>
          </a:p>
          <a:p>
            <a:endParaRPr lang="en-US" sz="2000" dirty="0" smtClean="0"/>
          </a:p>
          <a:p>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2362200"/>
          </a:xfrm>
        </p:spPr>
        <p:txBody>
          <a:bodyPr>
            <a:normAutofit fontScale="90000"/>
          </a:bodyPr>
          <a:lstStyle/>
          <a:p>
            <a:pPr marL="0" lvl="0" indent="0">
              <a:defRPr/>
            </a:pPr>
            <a:r>
              <a:rPr lang="en-US" sz="3100" b="1" u="sng" dirty="0" smtClean="0"/>
              <a:t/>
            </a:r>
            <a:br>
              <a:rPr lang="en-US" sz="3100" b="1" u="sng" dirty="0" smtClean="0"/>
            </a:br>
            <a:r>
              <a:rPr lang="en-US" sz="3100" b="1" u="sng" dirty="0" smtClean="0"/>
              <a:t/>
            </a:r>
            <a:br>
              <a:rPr lang="en-US" sz="3100" b="1" u="sng" dirty="0" smtClean="0"/>
            </a:br>
            <a:r>
              <a:rPr lang="en-US" sz="3100" b="1" u="sng" dirty="0" smtClean="0"/>
              <a:t/>
            </a:r>
            <a:br>
              <a:rPr lang="en-US" sz="3100" b="1" u="sng" dirty="0" smtClean="0"/>
            </a:br>
            <a:r>
              <a:rPr lang="en-US" sz="3100" b="1" u="sng" dirty="0" smtClean="0"/>
              <a:t>SMTP Protocol:</a:t>
            </a:r>
            <a:r>
              <a:rPr lang="en-US" sz="3100" b="1" dirty="0" smtClean="0"/>
              <a:t> </a:t>
            </a:r>
            <a:br>
              <a:rPr lang="en-US" sz="3100" b="1" dirty="0" smtClean="0"/>
            </a:br>
            <a:r>
              <a:rPr lang="en-US" sz="3100" dirty="0" smtClean="0"/>
              <a:t>SMTP is a set of rules defining how mail should be sent out and forwarded through the internet to its destination address.</a:t>
            </a:r>
            <a:endParaRPr lang="en-US" dirty="0"/>
          </a:p>
        </p:txBody>
      </p:sp>
      <p:pic>
        <p:nvPicPr>
          <p:cNvPr id="2050" name="Picture 2" descr="C:\Users\Parul\Desktop\SMTP_1.png"/>
          <p:cNvPicPr>
            <a:picLocks noGrp="1" noChangeAspect="1" noChangeArrowheads="1"/>
          </p:cNvPicPr>
          <p:nvPr>
            <p:ph sz="quarter" idx="1"/>
          </p:nvPr>
        </p:nvPicPr>
        <p:blipFill>
          <a:blip r:embed="rId2" cstate="print"/>
          <a:stretch>
            <a:fillRect/>
          </a:stretch>
        </p:blipFill>
        <p:spPr bwMode="auto">
          <a:xfrm>
            <a:off x="1333500" y="2057400"/>
            <a:ext cx="6934200" cy="335280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762000"/>
          </a:xfrm>
        </p:spPr>
        <p:txBody>
          <a:bodyPr>
            <a:normAutofit fontScale="90000"/>
          </a:bodyPr>
          <a:lstStyle/>
          <a:p>
            <a:pPr lvl="0"/>
            <a:r>
              <a:rPr lang="en-US" sz="5400" b="1" u="sng" dirty="0" smtClean="0"/>
              <a:t>POP3 Protocol </a:t>
            </a:r>
            <a:r>
              <a:rPr lang="en-US" sz="5400" dirty="0" smtClean="0"/>
              <a:t>: </a:t>
            </a:r>
            <a:endParaRPr lang="en-US" dirty="0"/>
          </a:p>
        </p:txBody>
      </p:sp>
      <p:sp>
        <p:nvSpPr>
          <p:cNvPr id="3" name="Content Placeholder 2"/>
          <p:cNvSpPr>
            <a:spLocks noGrp="1"/>
          </p:cNvSpPr>
          <p:nvPr>
            <p:ph sz="quarter" idx="1"/>
          </p:nvPr>
        </p:nvSpPr>
        <p:spPr>
          <a:xfrm>
            <a:off x="457200" y="1219200"/>
            <a:ext cx="8229600" cy="5105400"/>
          </a:xfrm>
        </p:spPr>
        <p:txBody>
          <a:bodyPr>
            <a:normAutofit/>
          </a:bodyPr>
          <a:lstStyle/>
          <a:p>
            <a:pPr marL="0" lvl="0" indent="0" algn="just">
              <a:buClrTx/>
              <a:buSzTx/>
              <a:buNone/>
              <a:defRPr/>
            </a:pPr>
            <a:endParaRPr lang="en-US" sz="2800" dirty="0" smtClean="0"/>
          </a:p>
          <a:p>
            <a:pPr marL="0" lvl="0" indent="0" algn="just">
              <a:buClrTx/>
              <a:buSzTx/>
              <a:buNone/>
              <a:defRPr/>
            </a:pPr>
            <a:r>
              <a:rPr lang="en-US" sz="2000" dirty="0" smtClean="0"/>
              <a:t>The </a:t>
            </a:r>
            <a:r>
              <a:rPr lang="en-US" sz="2000" b="1" dirty="0" smtClean="0"/>
              <a:t>Post Office Protocol</a:t>
            </a:r>
            <a:r>
              <a:rPr lang="en-US" sz="2000" dirty="0" smtClean="0"/>
              <a:t> (POP) is an Internet standard protocol used by local e-mail clients to retrieve e-mail from a remote server over a TCP/IP connection.</a:t>
            </a:r>
          </a:p>
          <a:p>
            <a:pPr marL="0" lvl="0" indent="0" algn="just">
              <a:buClrTx/>
              <a:buSzTx/>
              <a:buNone/>
              <a:defRPr/>
            </a:pPr>
            <a:r>
              <a:rPr lang="en-US" sz="2000" dirty="0" smtClean="0"/>
              <a:t>Pop server is your local post office, the place where all your incoming email is routed.</a:t>
            </a:r>
          </a:p>
          <a:p>
            <a:pPr marL="0" lvl="0" indent="0" algn="just">
              <a:buClrTx/>
              <a:buSzTx/>
              <a:buNone/>
              <a:defRPr/>
            </a:pPr>
            <a:endParaRPr lang="en-US" sz="2000" dirty="0" smtClean="0"/>
          </a:p>
          <a:p>
            <a:r>
              <a:rPr lang="en-US" b="1" dirty="0" smtClean="0"/>
              <a:t> IMAP Protocol:</a:t>
            </a:r>
          </a:p>
          <a:p>
            <a:pPr>
              <a:buNone/>
            </a:pPr>
            <a:endParaRPr lang="en-US" b="1" dirty="0" smtClean="0"/>
          </a:p>
          <a:p>
            <a:r>
              <a:rPr lang="en-US" sz="2000" b="1" dirty="0" smtClean="0"/>
              <a:t>IMAP (Internet Message Access Protocol)</a:t>
            </a:r>
            <a:r>
              <a:rPr lang="en-US" sz="2000" dirty="0" smtClean="0"/>
              <a:t> – Is a standard protocol for accessing e-mail from your local server. IMAP is a client/server protocol in which e-mail is received and held for you by your Internet server.</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r>
              <a:rPr lang="en-US" dirty="0" smtClean="0"/>
              <a:t>POP3 and IMAP are the protocols that are used to retrieve mail from the mailbox at the mail server to the recipient’s computer. Both are message accessing agents (MAA). </a:t>
            </a:r>
          </a:p>
          <a:p>
            <a:r>
              <a:rPr lang="en-US" b="1" dirty="0" smtClean="0"/>
              <a:t>POP3</a:t>
            </a:r>
            <a:r>
              <a:rPr lang="en-US" dirty="0" smtClean="0"/>
              <a:t>; the user has to download the email before checking its content whereas, the user can partially check the content of mail before downloading it, using </a:t>
            </a:r>
            <a:r>
              <a:rPr lang="en-US" b="1" dirty="0" smtClean="0"/>
              <a:t>IMAP</a:t>
            </a:r>
            <a:r>
              <a:rPr lang="en-US" dirty="0" smtClean="0"/>
              <a:t>. </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Protocol Works:</a:t>
            </a:r>
            <a:endParaRPr lang="en-US" dirty="0"/>
          </a:p>
        </p:txBody>
      </p:sp>
      <p:pic>
        <p:nvPicPr>
          <p:cNvPr id="3074" name="Picture 2" descr="C:\Users\Parul\Desktop\POP3-1.jpg"/>
          <p:cNvPicPr>
            <a:picLocks noGrp="1" noChangeAspect="1" noChangeArrowheads="1"/>
          </p:cNvPicPr>
          <p:nvPr>
            <p:ph sz="quarter" idx="1"/>
          </p:nvPr>
        </p:nvPicPr>
        <p:blipFill>
          <a:blip r:embed="rId2" cstate="print"/>
          <a:srcRect/>
          <a:stretch>
            <a:fillRect/>
          </a:stretch>
        </p:blipFill>
        <p:spPr bwMode="auto">
          <a:xfrm>
            <a:off x="381000" y="1905000"/>
            <a:ext cx="7848600" cy="44196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fontScale="90000"/>
          </a:bodyPr>
          <a:lstStyle/>
          <a:p>
            <a:r>
              <a:rPr lang="en-US" sz="5400" b="1" dirty="0" smtClean="0"/>
              <a:t>TELNET protocol</a:t>
            </a:r>
            <a:endParaRPr lang="en-US" dirty="0"/>
          </a:p>
        </p:txBody>
      </p:sp>
      <p:sp>
        <p:nvSpPr>
          <p:cNvPr id="3" name="Content Placeholder 2"/>
          <p:cNvSpPr>
            <a:spLocks noGrp="1"/>
          </p:cNvSpPr>
          <p:nvPr>
            <p:ph sz="quarter" idx="1"/>
          </p:nvPr>
        </p:nvSpPr>
        <p:spPr>
          <a:xfrm>
            <a:off x="457200" y="1447800"/>
            <a:ext cx="8229600" cy="5105400"/>
          </a:xfrm>
        </p:spPr>
        <p:txBody>
          <a:bodyPr/>
          <a:lstStyle/>
          <a:p>
            <a:pPr algn="just"/>
            <a:r>
              <a:rPr lang="en-US" b="1" dirty="0" smtClean="0"/>
              <a:t> </a:t>
            </a:r>
            <a:r>
              <a:rPr lang="en-US" sz="2000" b="1" dirty="0" smtClean="0"/>
              <a:t>TELNET </a:t>
            </a:r>
            <a:r>
              <a:rPr lang="en-US" sz="2000" dirty="0" smtClean="0"/>
              <a:t>(</a:t>
            </a:r>
            <a:r>
              <a:rPr lang="en-US" sz="2000" b="1" dirty="0" err="1" smtClean="0"/>
              <a:t>TEL</a:t>
            </a:r>
            <a:r>
              <a:rPr lang="en-US" sz="2000" dirty="0" err="1" smtClean="0"/>
              <a:t>ecommunication</a:t>
            </a:r>
            <a:r>
              <a:rPr lang="en-US" sz="2000" dirty="0" smtClean="0"/>
              <a:t> </a:t>
            </a:r>
            <a:r>
              <a:rPr lang="en-US" sz="2000" b="1" dirty="0" err="1" smtClean="0"/>
              <a:t>NET</a:t>
            </a:r>
            <a:r>
              <a:rPr lang="en-US" sz="2000" dirty="0" err="1" smtClean="0"/>
              <a:t>work</a:t>
            </a:r>
            <a:r>
              <a:rPr lang="en-US" sz="2000" dirty="0" smtClean="0"/>
              <a:t>) is a network protocol used on the Internet or local area network (LAN) connections and which provide a bidirectional interactive communications facility. </a:t>
            </a:r>
          </a:p>
          <a:p>
            <a:pPr lvl="0" algn="just">
              <a:buNone/>
            </a:pPr>
            <a:r>
              <a:rPr lang="en-US" sz="2000" dirty="0" smtClean="0"/>
              <a:t/>
            </a:r>
            <a:br>
              <a:rPr lang="en-US" sz="2000" dirty="0" smtClean="0"/>
            </a:br>
            <a:r>
              <a:rPr lang="en-US" sz="2000" dirty="0" smtClean="0"/>
              <a:t>For Example, a person has a computer in his office at new Delhi. He visit Mumbai on a family trip. But when he is free at Mumbai, he can log in his system Delhi from Mumbai and use all the databases and files and work on the system.</a:t>
            </a:r>
          </a:p>
          <a:p>
            <a:pPr lvl="0" algn="just">
              <a:buNone/>
            </a:pPr>
            <a:endParaRPr lang="en-US" sz="2000" dirty="0" smtClean="0"/>
          </a:p>
          <a:p>
            <a:pPr lvl="0" algn="just">
              <a:buNone/>
            </a:pPr>
            <a:r>
              <a:rPr lang="en-US" sz="2000" dirty="0" smtClean="0"/>
              <a:t>The user’s computer, which initiate the connection, is referred as the </a:t>
            </a:r>
            <a:r>
              <a:rPr lang="en-US" sz="2000" b="1" u="sng" dirty="0" smtClean="0">
                <a:solidFill>
                  <a:schemeClr val="accent2">
                    <a:lumMod val="75000"/>
                  </a:schemeClr>
                </a:solidFill>
              </a:rPr>
              <a:t>local computer</a:t>
            </a:r>
            <a:r>
              <a:rPr lang="en-US" sz="2000" b="1" dirty="0" smtClean="0"/>
              <a:t> </a:t>
            </a:r>
            <a:r>
              <a:rPr lang="en-US" sz="2000" dirty="0" smtClean="0"/>
              <a:t>and the machine which is accepted the connection is referred to as the </a:t>
            </a:r>
            <a:r>
              <a:rPr lang="en-US" sz="2000" b="1" u="sng" dirty="0" smtClean="0">
                <a:solidFill>
                  <a:schemeClr val="accent2">
                    <a:lumMod val="75000"/>
                  </a:schemeClr>
                </a:solidFill>
              </a:rPr>
              <a:t>remote or host computer</a:t>
            </a:r>
            <a:endParaRPr lang="en-US" sz="2000" dirty="0" smtClean="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8229600" cy="5943600"/>
          </a:xfrm>
        </p:spPr>
        <p:txBody>
          <a:bodyPr>
            <a:normAutofit/>
          </a:bodyPr>
          <a:lstStyle/>
          <a:p>
            <a:pPr algn="just"/>
            <a:endParaRPr lang="en-US" sz="2000" dirty="0" smtClean="0"/>
          </a:p>
          <a:p>
            <a:pPr marL="365760" lvl="0" indent="-283464" algn="just">
              <a:defRPr/>
            </a:pPr>
            <a:r>
              <a:rPr lang="en-US" sz="2000" dirty="0" smtClean="0"/>
              <a:t>Some remote machines may require a user to have an </a:t>
            </a:r>
            <a:r>
              <a:rPr lang="en-US" sz="2000" b="1" u="sng" dirty="0" smtClean="0">
                <a:solidFill>
                  <a:schemeClr val="accent2">
                    <a:lumMod val="75000"/>
                  </a:schemeClr>
                </a:solidFill>
              </a:rPr>
              <a:t>account</a:t>
            </a:r>
            <a:r>
              <a:rPr lang="en-US" sz="2000" dirty="0" smtClean="0"/>
              <a:t> on machine, and may promote users for a username and password.</a:t>
            </a:r>
          </a:p>
          <a:p>
            <a:pPr marL="365760" lvl="0" indent="-283464" algn="just">
              <a:defRPr/>
            </a:pPr>
            <a:endParaRPr lang="en-US" sz="2000" dirty="0" smtClean="0"/>
          </a:p>
          <a:p>
            <a:pPr marL="365760" lvl="0" indent="-283464" algn="just">
              <a:defRPr/>
            </a:pPr>
            <a:r>
              <a:rPr lang="en-US" sz="2000" dirty="0" smtClean="0"/>
              <a:t>Telnet operates on the </a:t>
            </a:r>
            <a:r>
              <a:rPr lang="en-US" sz="2000" b="1" u="sng" dirty="0" smtClean="0">
                <a:solidFill>
                  <a:schemeClr val="accent2">
                    <a:lumMod val="75000"/>
                  </a:schemeClr>
                </a:solidFill>
              </a:rPr>
              <a:t>client/server principle</a:t>
            </a:r>
            <a:r>
              <a:rPr lang="en-US" sz="2000" dirty="0" smtClean="0"/>
              <a:t>. </a:t>
            </a:r>
          </a:p>
          <a:p>
            <a:pPr marL="365760" lvl="0" indent="-283464" algn="just">
              <a:defRPr/>
            </a:pPr>
            <a:endParaRPr lang="en-US" sz="2000" dirty="0" smtClean="0"/>
          </a:p>
          <a:p>
            <a:pPr marL="365760" lvl="0" indent="-283464" algn="just">
              <a:defRPr/>
            </a:pPr>
            <a:r>
              <a:rPr lang="en-US" sz="2000" dirty="0" smtClean="0"/>
              <a:t>The </a:t>
            </a:r>
            <a:r>
              <a:rPr lang="en-US" sz="2000" b="1" u="sng" dirty="0" smtClean="0">
                <a:solidFill>
                  <a:schemeClr val="accent2">
                    <a:lumMod val="75000"/>
                  </a:schemeClr>
                </a:solidFill>
              </a:rPr>
              <a:t>local computer</a:t>
            </a:r>
            <a:r>
              <a:rPr lang="en-US" sz="2000" dirty="0" smtClean="0"/>
              <a:t> uses a telnet client program to establish the connection and display data on the local computer’s monitor.</a:t>
            </a:r>
          </a:p>
          <a:p>
            <a:pPr marL="365760" lvl="0" indent="-283464" algn="just">
              <a:defRPr/>
            </a:pPr>
            <a:endParaRPr lang="en-US" sz="2000" dirty="0" smtClean="0"/>
          </a:p>
          <a:p>
            <a:pPr marL="365760" lvl="0" indent="-283464" algn="just">
              <a:defRPr/>
            </a:pPr>
            <a:r>
              <a:rPr lang="en-US" sz="2000" dirty="0" smtClean="0"/>
              <a:t>The </a:t>
            </a:r>
            <a:r>
              <a:rPr lang="en-US" sz="2000" b="1" u="sng" dirty="0" smtClean="0">
                <a:solidFill>
                  <a:schemeClr val="accent2">
                    <a:lumMod val="75000"/>
                  </a:schemeClr>
                </a:solidFill>
              </a:rPr>
              <a:t>remote or host computer</a:t>
            </a:r>
            <a:r>
              <a:rPr lang="en-US" sz="2000" b="1" dirty="0" smtClean="0">
                <a:solidFill>
                  <a:schemeClr val="accent2">
                    <a:lumMod val="75000"/>
                  </a:schemeClr>
                </a:solidFill>
              </a:rPr>
              <a:t>  </a:t>
            </a:r>
            <a:r>
              <a:rPr lang="en-US" sz="2000" dirty="0" smtClean="0"/>
              <a:t>uses a telnet server program to accept the connection and send responses to requests for information back to the local computer.</a:t>
            </a:r>
          </a:p>
          <a:p>
            <a:pPr algn="just"/>
            <a:endParaRPr lang="en-US" sz="2000" dirty="0" smtClean="0"/>
          </a:p>
          <a:p>
            <a:pPr algn="just"/>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762000"/>
          </a:xfrm>
        </p:spPr>
        <p:txBody>
          <a:bodyPr>
            <a:normAutofit fontScale="90000"/>
          </a:bodyPr>
          <a:lstStyle/>
          <a:p>
            <a: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r>
            <a:b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br>
            <a: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r>
            <a:b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br>
            <a: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r>
            <a:b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br>
            <a: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r>
            <a:b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br>
            <a: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r>
            <a:b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br>
            <a: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a:r>
            <a:b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br>
            <a:r>
              <a:rPr lang="en-US" sz="48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How telnet works?</a:t>
            </a:r>
            <a:endParaRPr lang="en-US" dirty="0"/>
          </a:p>
        </p:txBody>
      </p:sp>
      <p:sp>
        <p:nvSpPr>
          <p:cNvPr id="3" name="Content Placeholder 2"/>
          <p:cNvSpPr>
            <a:spLocks noGrp="1"/>
          </p:cNvSpPr>
          <p:nvPr>
            <p:ph sz="quarter" idx="1"/>
          </p:nvPr>
        </p:nvSpPr>
        <p:spPr>
          <a:xfrm>
            <a:off x="457200" y="1447800"/>
            <a:ext cx="8229600" cy="5181600"/>
          </a:xfrm>
        </p:spPr>
        <p:txBody>
          <a:bodyPr>
            <a:normAutofit/>
          </a:bodyPr>
          <a:lstStyle/>
          <a:p>
            <a:pPr marL="0" lvl="0" indent="0" algn="just">
              <a:buClrTx/>
              <a:buSzTx/>
              <a:buFont typeface="Arial" pitchFamily="34" charset="0"/>
              <a:buChar char="•"/>
              <a:defRPr/>
            </a:pPr>
            <a:r>
              <a:rPr lang="en-US" sz="2400" dirty="0" smtClean="0"/>
              <a:t>To open a Telnet connection, you need to be at the command line. On the Start menu, type "</a:t>
            </a:r>
            <a:r>
              <a:rPr lang="en-US" sz="2400" dirty="0" err="1" smtClean="0"/>
              <a:t>cmd</a:t>
            </a:r>
            <a:r>
              <a:rPr lang="en-US" sz="2400" dirty="0" smtClean="0"/>
              <a:t>" into the Run bar (or the Search bar in Windows Vista) and click OK or hit Enter. When the command prompt window opens up, type: telnet [</a:t>
            </a:r>
            <a:r>
              <a:rPr lang="en-US" sz="2400" dirty="0" err="1" smtClean="0"/>
              <a:t>ip_address</a:t>
            </a:r>
            <a:r>
              <a:rPr lang="en-US" sz="2400" dirty="0" smtClean="0"/>
              <a:t> or hostname] </a:t>
            </a:r>
          </a:p>
          <a:p>
            <a:pPr marL="0" lvl="0" indent="0" algn="just">
              <a:buClrTx/>
              <a:buSzTx/>
              <a:buFont typeface="Arial" pitchFamily="34" charset="0"/>
              <a:buChar char="•"/>
              <a:defRPr/>
            </a:pPr>
            <a:endParaRPr lang="en-US" sz="2400" dirty="0" smtClean="0"/>
          </a:p>
          <a:p>
            <a:pPr marL="0" lvl="0" indent="0" algn="just">
              <a:buClrTx/>
              <a:buSzTx/>
              <a:buFont typeface="Arial" pitchFamily="34" charset="0"/>
              <a:buChar char="•"/>
              <a:defRPr/>
            </a:pPr>
            <a:r>
              <a:rPr lang="en-US" sz="2400" dirty="0" smtClean="0"/>
              <a:t>You can connect to a computer using either that computer's IP address (such as 192.168.1.10) or its name (for example, </a:t>
            </a:r>
            <a:r>
              <a:rPr lang="en-US" sz="2400" dirty="0" err="1" smtClean="0"/>
              <a:t>JohnsComp</a:t>
            </a:r>
            <a:r>
              <a:rPr lang="en-US" sz="2400" dirty="0" smtClean="0"/>
              <a:t>). In order to establish the connection, that computer must be turned on and it must be connected to the network. </a:t>
            </a:r>
          </a:p>
          <a:p>
            <a:pPr marL="0" lvl="0" indent="0" algn="just">
              <a:buClrTx/>
              <a:buSzTx/>
              <a:buFont typeface="Arial" pitchFamily="34" charset="0"/>
              <a:buChar char="•"/>
              <a:defRPr/>
            </a:pPr>
            <a:endParaRPr lang="en-US" sz="2400" dirty="0" smtClean="0"/>
          </a:p>
          <a:p>
            <a:pPr marL="0" lvl="0" indent="0" algn="just">
              <a:buClrTx/>
              <a:buSzTx/>
              <a:buFont typeface="Arial" pitchFamily="34" charset="0"/>
              <a:buChar char="•"/>
              <a:defRPr/>
            </a:pPr>
            <a:r>
              <a:rPr lang="en-US" sz="2400" dirty="0" smtClean="0"/>
              <a:t>If the destination computer requires a username and password to log on, you'll have to enter those credentials in order to Telnet in</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IN"/>
          </a:p>
        </p:txBody>
      </p:sp>
      <p:sp>
        <p:nvSpPr>
          <p:cNvPr id="2" name="Title 1"/>
          <p:cNvSpPr>
            <a:spLocks noGrp="1"/>
          </p:cNvSpPr>
          <p:nvPr>
            <p:ph type="ctrTitle"/>
          </p:nvPr>
        </p:nvSpPr>
        <p:spPr/>
        <p:txBody>
          <a:bodyPr/>
          <a:lstStyle/>
          <a:p>
            <a:endParaRPr lang="en-IN"/>
          </a:p>
        </p:txBody>
      </p:sp>
      <p:pic>
        <p:nvPicPr>
          <p:cNvPr id="1026" name="Picture 2" descr="http://www.pptbackgroundstemplates.com/backgrounds/simple-notebook-on-black-ppt-backgrounds-powerpoint.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p:cNvSpPr/>
          <p:nvPr/>
        </p:nvSpPr>
        <p:spPr>
          <a:xfrm>
            <a:off x="990600" y="609600"/>
            <a:ext cx="7848600" cy="4819781"/>
          </a:xfrm>
          <a:prstGeom prst="rect">
            <a:avLst/>
          </a:prstGeom>
        </p:spPr>
        <p:txBody>
          <a:bodyPr wrap="square">
            <a:spAutoFit/>
          </a:bodyPr>
          <a:lstStyle/>
          <a:p>
            <a:pPr lvl="0" algn="just">
              <a:spcBef>
                <a:spcPct val="20000"/>
              </a:spcBef>
              <a:buFont typeface="Arial" pitchFamily="34" charset="0"/>
              <a:buChar char="•"/>
              <a:defRPr/>
            </a:pPr>
            <a:endParaRPr lang="en-US" sz="2400" dirty="0" smtClean="0">
              <a:solidFill>
                <a:schemeClr val="bg1"/>
              </a:solidFill>
            </a:endParaRPr>
          </a:p>
          <a:p>
            <a:pPr lvl="0" algn="just">
              <a:spcBef>
                <a:spcPct val="20000"/>
              </a:spcBef>
              <a:buFont typeface="Arial" pitchFamily="34" charset="0"/>
              <a:buChar char="•"/>
              <a:defRPr/>
            </a:pPr>
            <a:r>
              <a:rPr lang="en-US" sz="2400" dirty="0" smtClean="0">
                <a:solidFill>
                  <a:schemeClr val="bg1"/>
                </a:solidFill>
              </a:rPr>
              <a:t>If you try to connect to a computer via Telnet and it doesn't make the connection, there can be several reasons why. </a:t>
            </a:r>
          </a:p>
          <a:p>
            <a:pPr lvl="0" algn="just">
              <a:spcBef>
                <a:spcPct val="20000"/>
              </a:spcBef>
              <a:buFont typeface="Arial" pitchFamily="34" charset="0"/>
              <a:buChar char="•"/>
              <a:defRPr/>
            </a:pPr>
            <a:r>
              <a:rPr lang="en-US" sz="2400" dirty="0" smtClean="0">
                <a:solidFill>
                  <a:schemeClr val="bg1"/>
                </a:solidFill>
              </a:rPr>
              <a:t>Check that the remote computer is on and make sure it has the Telnet service running. </a:t>
            </a:r>
          </a:p>
          <a:p>
            <a:pPr lvl="0" algn="just">
              <a:spcBef>
                <a:spcPct val="20000"/>
              </a:spcBef>
              <a:buFont typeface="Arial" pitchFamily="34" charset="0"/>
              <a:buChar char="•"/>
              <a:defRPr/>
            </a:pPr>
            <a:endParaRPr lang="en-US" sz="2400" dirty="0" smtClean="0">
              <a:solidFill>
                <a:schemeClr val="bg1"/>
              </a:solidFill>
            </a:endParaRPr>
          </a:p>
          <a:p>
            <a:pPr lvl="0" algn="just">
              <a:spcBef>
                <a:spcPct val="20000"/>
              </a:spcBef>
              <a:buFont typeface="Arial" pitchFamily="34" charset="0"/>
              <a:buChar char="•"/>
              <a:defRPr/>
            </a:pPr>
            <a:r>
              <a:rPr lang="en-US" sz="2400" dirty="0" smtClean="0">
                <a:solidFill>
                  <a:schemeClr val="bg1"/>
                </a:solidFill>
              </a:rPr>
              <a:t>If you still can't connect, the remote computer's firewall settings may be blocking the connection; either turn the firewall off temporarily or allow an exception for port 23 (the port Telnet uses).  If you turn the firewall off, remember to turn it back on when you are done. </a:t>
            </a:r>
          </a:p>
        </p:txBody>
      </p:sp>
    </p:spTree>
    <p:extLst>
      <p:ext uri="{BB962C8B-B14F-4D97-AF65-F5344CB8AC3E}">
        <p14:creationId xmlns:p14="http://schemas.microsoft.com/office/powerpoint/2010/main" xmlns="" val="564095113"/>
      </p:ext>
    </p:extLst>
  </p:cSld>
  <p:clrMapOvr>
    <a:masterClrMapping/>
  </p:clrMapOvr>
  <p:transition>
    <p:wip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b="1" dirty="0" smtClean="0"/>
              <a:t>Install Telnet on Windows</a:t>
            </a:r>
            <a:endParaRPr lang="en-US" dirty="0" smtClean="0"/>
          </a:p>
          <a:p>
            <a:r>
              <a:rPr lang="en-US" dirty="0" smtClean="0"/>
              <a:t>Click Start.</a:t>
            </a:r>
          </a:p>
          <a:p>
            <a:r>
              <a:rPr lang="en-US" dirty="0" smtClean="0"/>
              <a:t>Select Control Panel.</a:t>
            </a:r>
          </a:p>
          <a:p>
            <a:r>
              <a:rPr lang="en-US" dirty="0" smtClean="0"/>
              <a:t>Choose Programs and Features.</a:t>
            </a:r>
          </a:p>
          <a:p>
            <a:r>
              <a:rPr lang="en-US" dirty="0" smtClean="0"/>
              <a:t>Click Turn Windows features on or off.</a:t>
            </a:r>
          </a:p>
          <a:p>
            <a:r>
              <a:rPr lang="en-US" dirty="0" smtClean="0"/>
              <a:t>Select the </a:t>
            </a:r>
            <a:r>
              <a:rPr lang="en-US" b="1" dirty="0" smtClean="0"/>
              <a:t>Telnet</a:t>
            </a:r>
            <a:r>
              <a:rPr lang="en-US" dirty="0" smtClean="0"/>
              <a:t> Client option.</a:t>
            </a:r>
          </a:p>
          <a:p>
            <a:r>
              <a:rPr lang="en-US" dirty="0" smtClean="0"/>
              <a:t>Click OK. A dialog box appears to confirm installation. The </a:t>
            </a:r>
            <a:r>
              <a:rPr lang="en-US" b="1" dirty="0" smtClean="0"/>
              <a:t>telnet</a:t>
            </a:r>
            <a:r>
              <a:rPr lang="en-US" dirty="0" smtClean="0"/>
              <a:t> command should now be available.</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1381847740360.telnet 1.JPG"/>
          <p:cNvPicPr>
            <a:picLocks noGrp="1" noChangeAspect="1" noChangeArrowheads="1"/>
          </p:cNvPicPr>
          <p:nvPr>
            <p:ph sz="quarter" idx="1"/>
          </p:nvPr>
        </p:nvPicPr>
        <p:blipFill>
          <a:blip r:embed="rId2" cstate="print"/>
          <a:srcRect/>
          <a:stretch>
            <a:fillRect/>
          </a:stretch>
        </p:blipFill>
        <p:spPr bwMode="auto">
          <a:xfrm>
            <a:off x="0" y="685800"/>
            <a:ext cx="9143999" cy="59436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creenshots.en.sftcdn.net/en/scrn/69662000/69662201/image-02-535x535.png"/>
          <p:cNvPicPr>
            <a:picLocks noChangeAspect="1" noChangeArrowheads="1"/>
          </p:cNvPicPr>
          <p:nvPr/>
        </p:nvPicPr>
        <p:blipFill>
          <a:blip r:embed="rId2" cstate="print"/>
          <a:srcRect/>
          <a:stretch>
            <a:fillRect/>
          </a:stretch>
        </p:blipFill>
        <p:spPr bwMode="auto">
          <a:xfrm>
            <a:off x="4876800" y="1447800"/>
            <a:ext cx="4038600" cy="3733800"/>
          </a:xfrm>
          <a:prstGeom prst="rect">
            <a:avLst/>
          </a:prstGeom>
          <a:noFill/>
        </p:spPr>
      </p:pic>
      <p:sp>
        <p:nvSpPr>
          <p:cNvPr id="5" name="TextBox 4"/>
          <p:cNvSpPr txBox="1"/>
          <p:nvPr/>
        </p:nvSpPr>
        <p:spPr>
          <a:xfrm>
            <a:off x="152400" y="1524000"/>
            <a:ext cx="4495800" cy="5078313"/>
          </a:xfrm>
          <a:prstGeom prst="rect">
            <a:avLst/>
          </a:prstGeom>
          <a:noFill/>
        </p:spPr>
        <p:txBody>
          <a:bodyPr wrap="square" rtlCol="0">
            <a:spAutoFit/>
          </a:bodyPr>
          <a:lstStyle/>
          <a:p>
            <a:r>
              <a:rPr lang="en-US" dirty="0" smtClean="0"/>
              <a:t>Team Viewer is an excellent screen-sharing and file-transfer app.</a:t>
            </a:r>
          </a:p>
          <a:p>
            <a:endParaRPr lang="en-US" dirty="0" smtClean="0"/>
          </a:p>
          <a:p>
            <a:r>
              <a:rPr lang="en-US" dirty="0" smtClean="0"/>
              <a:t>Team Viewer is a Web 2.0 program that allows users to connect to each other’s personal computers, via internet, and control his/her screen. </a:t>
            </a:r>
          </a:p>
          <a:p>
            <a:endParaRPr lang="en-US" dirty="0" smtClean="0"/>
          </a:p>
          <a:p>
            <a:r>
              <a:rPr lang="en-US" dirty="0" smtClean="0"/>
              <a:t>Team Viewer also provides more features such as video calling and voice transmission. </a:t>
            </a:r>
          </a:p>
          <a:p>
            <a:endParaRPr lang="en-US" dirty="0" smtClean="0"/>
          </a:p>
          <a:p>
            <a:r>
              <a:rPr lang="en-US" dirty="0" smtClean="0"/>
              <a:t>In addition, this program allows users to transfer files from one PC to another. </a:t>
            </a:r>
          </a:p>
          <a:p>
            <a:endParaRPr lang="en-US" dirty="0" smtClean="0"/>
          </a:p>
          <a:p>
            <a:endParaRPr lang="en-US" dirty="0" smtClean="0"/>
          </a:p>
          <a:p>
            <a:r>
              <a:rPr lang="en-US" dirty="0" smtClean="0"/>
              <a:t>Besides that, this program allows the user to display his/her screen to the other user</a:t>
            </a:r>
            <a:endParaRPr lang="en-US" dirty="0"/>
          </a:p>
        </p:txBody>
      </p:sp>
      <p:sp>
        <p:nvSpPr>
          <p:cNvPr id="6" name="TextBox 5"/>
          <p:cNvSpPr txBox="1"/>
          <p:nvPr/>
        </p:nvSpPr>
        <p:spPr>
          <a:xfrm>
            <a:off x="1524000" y="457200"/>
            <a:ext cx="4724400" cy="923330"/>
          </a:xfrm>
          <a:prstGeom prst="rect">
            <a:avLst/>
          </a:prstGeom>
          <a:noFill/>
        </p:spPr>
        <p:txBody>
          <a:bodyPr wrap="square" rtlCol="0">
            <a:spAutoFit/>
          </a:bodyPr>
          <a:lstStyle/>
          <a:p>
            <a:r>
              <a:rPr lang="en-US" sz="5400" b="1" dirty="0" smtClean="0">
                <a:solidFill>
                  <a:schemeClr val="accent1"/>
                </a:solidFill>
              </a:rPr>
              <a:t>Team Viewer</a:t>
            </a:r>
            <a:endParaRPr lang="en-US" sz="5400" b="1" dirty="0">
              <a:solidFill>
                <a:schemeClr val="accent1"/>
              </a:solidFill>
            </a:endParaRPr>
          </a:p>
        </p:txBody>
      </p:sp>
    </p:spTree>
  </p:cSld>
  <p:clrMapOvr>
    <a:masterClrMapping/>
  </p:clrMapOvr>
  <p:transition>
    <p:wip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27650" name="Picture 2" descr="https://www.teamviewer.com/resources/images/screenshots/win-mainwindow.pn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Tree>
  </p:cSld>
  <p:clrMapOvr>
    <a:masterClrMapping/>
  </p:clrMapOvr>
  <p:transition>
    <p:wip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SH_Protocol2.gif"/>
          <p:cNvPicPr>
            <a:picLocks noGrp="1" noChangeAspect="1"/>
          </p:cNvPicPr>
          <p:nvPr>
            <p:ph sz="quarter" idx="1"/>
          </p:nvPr>
        </p:nvPicPr>
        <p:blipFill>
          <a:blip r:embed="rId2" cstate="print"/>
          <a:stretch>
            <a:fillRect/>
          </a:stretch>
        </p:blipFill>
        <p:spPr>
          <a:xfrm>
            <a:off x="1295400" y="1600200"/>
            <a:ext cx="6911196" cy="4191000"/>
          </a:xfr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362712"/>
          </a:xfrm>
        </p:spPr>
        <p:txBody>
          <a:bodyPr>
            <a:normAutofit fontScale="90000"/>
          </a:bodyPr>
          <a:lstStyle/>
          <a:p>
            <a:r>
              <a:rPr lang="en-US" dirty="0" smtClean="0"/>
              <a:t>FTP : File Transfer Protocol</a:t>
            </a:r>
            <a:endParaRPr lang="en-IN" dirty="0"/>
          </a:p>
        </p:txBody>
      </p:sp>
      <p:sp>
        <p:nvSpPr>
          <p:cNvPr id="5" name="Rectangle 4"/>
          <p:cNvSpPr/>
          <p:nvPr/>
        </p:nvSpPr>
        <p:spPr>
          <a:xfrm>
            <a:off x="457200" y="1066800"/>
            <a:ext cx="8153400" cy="4745915"/>
          </a:xfrm>
          <a:prstGeom prst="rect">
            <a:avLst/>
          </a:prstGeom>
        </p:spPr>
        <p:txBody>
          <a:bodyPr wrap="square">
            <a:spAutoFit/>
          </a:bodyPr>
          <a:lstStyle/>
          <a:p>
            <a:pPr algn="just">
              <a:lnSpc>
                <a:spcPct val="90000"/>
              </a:lnSpc>
              <a:buFont typeface="Arial" pitchFamily="34" charset="0"/>
              <a:buChar char="•"/>
            </a:pPr>
            <a:r>
              <a:rPr lang="en-US" sz="2400" dirty="0" smtClean="0"/>
              <a:t>FTP is a part of TCP/IP protocol suite. </a:t>
            </a:r>
          </a:p>
          <a:p>
            <a:pPr algn="just">
              <a:lnSpc>
                <a:spcPct val="90000"/>
              </a:lnSpc>
              <a:buFont typeface="Arial" pitchFamily="34" charset="0"/>
              <a:buChar char="•"/>
            </a:pPr>
            <a:endParaRPr lang="en-US" sz="2400" dirty="0" smtClean="0"/>
          </a:p>
          <a:p>
            <a:pPr algn="just">
              <a:lnSpc>
                <a:spcPct val="90000"/>
              </a:lnSpc>
              <a:buFont typeface="Arial" pitchFamily="34" charset="0"/>
              <a:buChar char="•"/>
            </a:pPr>
            <a:r>
              <a:rPr lang="en-US" sz="2400" dirty="0" smtClean="0"/>
              <a:t>It is the protocol or set of rules, which enables files to be transferred between computers. </a:t>
            </a:r>
          </a:p>
          <a:p>
            <a:pPr algn="just">
              <a:lnSpc>
                <a:spcPct val="90000"/>
              </a:lnSpc>
              <a:buFont typeface="Arial" pitchFamily="34" charset="0"/>
              <a:buChar char="•"/>
            </a:pPr>
            <a:endParaRPr lang="en-US" sz="2400" dirty="0" smtClean="0"/>
          </a:p>
          <a:p>
            <a:pPr algn="just">
              <a:lnSpc>
                <a:spcPct val="90000"/>
              </a:lnSpc>
              <a:buFont typeface="Arial" pitchFamily="34" charset="0"/>
              <a:buChar char="•"/>
            </a:pPr>
            <a:r>
              <a:rPr lang="en-US" sz="2400" dirty="0" smtClean="0"/>
              <a:t>FTP is powerful tool which allows files to be transferred from “computer A” to “Computer B” or vice versa. </a:t>
            </a:r>
          </a:p>
          <a:p>
            <a:pPr algn="just">
              <a:lnSpc>
                <a:spcPct val="90000"/>
              </a:lnSpc>
              <a:buFont typeface="Arial" pitchFamily="34" charset="0"/>
              <a:buChar char="•"/>
            </a:pPr>
            <a:endParaRPr lang="en-US" sz="2400" dirty="0" smtClean="0"/>
          </a:p>
          <a:p>
            <a:pPr algn="just">
              <a:lnSpc>
                <a:spcPct val="90000"/>
              </a:lnSpc>
              <a:buFont typeface="Arial" pitchFamily="34" charset="0"/>
              <a:buChar char="•"/>
            </a:pPr>
            <a:r>
              <a:rPr lang="en-US" sz="2400" dirty="0" smtClean="0"/>
              <a:t>FTP works on client/server principles. </a:t>
            </a:r>
          </a:p>
          <a:p>
            <a:pPr algn="just">
              <a:lnSpc>
                <a:spcPct val="90000"/>
              </a:lnSpc>
              <a:buFont typeface="Arial" pitchFamily="34" charset="0"/>
              <a:buChar char="•"/>
            </a:pPr>
            <a:endParaRPr lang="en-US" sz="2400" dirty="0" smtClean="0"/>
          </a:p>
          <a:p>
            <a:pPr algn="just">
              <a:lnSpc>
                <a:spcPct val="90000"/>
              </a:lnSpc>
              <a:buFont typeface="Arial" pitchFamily="34" charset="0"/>
              <a:buChar char="•"/>
            </a:pPr>
            <a:r>
              <a:rPr lang="en-US" sz="2400" dirty="0" smtClean="0"/>
              <a:t>A client program enables the user to interact with a server to access information and services on the server computer. </a:t>
            </a:r>
          </a:p>
          <a:p>
            <a:pPr algn="just">
              <a:lnSpc>
                <a:spcPct val="90000"/>
              </a:lnSpc>
              <a:buFont typeface="Arial" pitchFamily="34" charset="0"/>
              <a:buChar char="•"/>
            </a:pPr>
            <a:endParaRPr lang="en-US" sz="2400" dirty="0" smtClean="0"/>
          </a:p>
          <a:p>
            <a:pPr algn="just">
              <a:lnSpc>
                <a:spcPct val="90000"/>
              </a:lnSpc>
              <a:buFont typeface="Arial" pitchFamily="34" charset="0"/>
              <a:buChar char="•"/>
            </a:pPr>
            <a:endParaRPr lang="en-US" sz="2400"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a:bodyPr>
          <a:lstStyle/>
          <a:p>
            <a:pPr algn="just">
              <a:lnSpc>
                <a:spcPct val="90000"/>
              </a:lnSpc>
              <a:buFont typeface="Arial" pitchFamily="34" charset="0"/>
              <a:buChar char="•"/>
            </a:pPr>
            <a:r>
              <a:rPr lang="en-US" sz="2800" dirty="0" smtClean="0"/>
              <a:t>Files that can be transferred are stored on computer called FTP servers. </a:t>
            </a:r>
          </a:p>
          <a:p>
            <a:pPr algn="just">
              <a:lnSpc>
                <a:spcPct val="90000"/>
              </a:lnSpc>
              <a:buFont typeface="Arial" pitchFamily="34" charset="0"/>
              <a:buChar char="•"/>
            </a:pPr>
            <a:endParaRPr lang="en-US" sz="2800" dirty="0" smtClean="0"/>
          </a:p>
          <a:p>
            <a:pPr algn="just">
              <a:lnSpc>
                <a:spcPct val="90000"/>
              </a:lnSpc>
              <a:buFont typeface="Arial" pitchFamily="34" charset="0"/>
              <a:buChar char="•"/>
            </a:pPr>
            <a:r>
              <a:rPr lang="en-US" sz="2800" dirty="0" smtClean="0"/>
              <a:t>To access these files, an FTP client program is used.</a:t>
            </a:r>
          </a:p>
          <a:p>
            <a:pPr algn="just">
              <a:lnSpc>
                <a:spcPct val="90000"/>
              </a:lnSpc>
              <a:buFont typeface="Arial" pitchFamily="34" charset="0"/>
              <a:buChar char="•"/>
            </a:pPr>
            <a:endParaRPr lang="en-US" sz="2800" dirty="0" smtClean="0"/>
          </a:p>
          <a:p>
            <a:r>
              <a:rPr lang="en-US" sz="2800" dirty="0" smtClean="0"/>
              <a:t>Transferring files from a client computer to a server computer is called </a:t>
            </a:r>
            <a:r>
              <a:rPr lang="en-US" sz="2800" b="1" dirty="0" smtClean="0"/>
              <a:t>"uploading"</a:t>
            </a:r>
            <a:r>
              <a:rPr lang="en-US" sz="2800" dirty="0" smtClean="0"/>
              <a:t> and transferring from a server to a client is </a:t>
            </a:r>
            <a:r>
              <a:rPr lang="en-US" sz="2800" b="1" dirty="0" smtClean="0"/>
              <a:t>"downloading".</a:t>
            </a:r>
            <a:r>
              <a:rPr lang="en-US" sz="2800" dirty="0" smtClean="0"/>
              <a:t> </a:t>
            </a:r>
            <a:br>
              <a:rPr lang="en-US" sz="2800" dirty="0" smtClean="0"/>
            </a:br>
            <a:endParaRPr lang="en-US" sz="2800" dirty="0" smtClean="0"/>
          </a:p>
          <a:p>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normAutofit fontScale="90000"/>
          </a:bodyPr>
          <a:lstStyle/>
          <a:p>
            <a:r>
              <a:rPr lang="en-US" sz="5400" b="1" dirty="0" smtClean="0"/>
              <a:t/>
            </a:r>
            <a:br>
              <a:rPr lang="en-US" sz="5400" b="1" dirty="0" smtClean="0"/>
            </a:br>
            <a:r>
              <a:rPr lang="en-US" sz="5400" b="1" dirty="0" smtClean="0"/>
              <a:t/>
            </a:r>
            <a:br>
              <a:rPr lang="en-US" sz="5400" b="1" dirty="0" smtClean="0"/>
            </a:br>
            <a:r>
              <a:rPr lang="en-US" sz="5400" b="1" dirty="0" smtClean="0"/>
              <a:t/>
            </a:r>
            <a:br>
              <a:rPr lang="en-US" sz="5400" b="1" dirty="0" smtClean="0"/>
            </a:br>
            <a:r>
              <a:rPr lang="en-US" sz="5400" b="1" dirty="0" smtClean="0"/>
              <a:t>How it works?</a:t>
            </a:r>
            <a:endParaRPr lang="en-IN" dirty="0"/>
          </a:p>
        </p:txBody>
      </p:sp>
      <p:sp>
        <p:nvSpPr>
          <p:cNvPr id="3" name="Content Placeholder 2"/>
          <p:cNvSpPr>
            <a:spLocks noGrp="1"/>
          </p:cNvSpPr>
          <p:nvPr>
            <p:ph sz="quarter" idx="1"/>
          </p:nvPr>
        </p:nvSpPr>
        <p:spPr/>
        <p:txBody>
          <a:bodyPr/>
          <a:lstStyle/>
          <a:p>
            <a:pPr algn="just">
              <a:buFont typeface="Arial" pitchFamily="34" charset="0"/>
              <a:buChar char="•"/>
            </a:pPr>
            <a:r>
              <a:rPr lang="en-US" sz="2800" dirty="0" smtClean="0"/>
              <a:t>First, you as client make a TCP control connection to the FTP server's port 21 which will remain open during the transfer process. In response, the FTP server opens a second connection that is the data connection from the server's port 20 to your computer.</a:t>
            </a:r>
          </a:p>
          <a:p>
            <a:endParaRPr lang="en-I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algn="just"/>
            <a:r>
              <a:rPr lang="en-US" sz="2800" dirty="0" smtClean="0"/>
              <a:t>There are two mode for connection</a:t>
            </a:r>
          </a:p>
          <a:p>
            <a:pPr algn="just"/>
            <a:r>
              <a:rPr lang="en-US" sz="2800" dirty="0" smtClean="0"/>
              <a:t>	1) Active</a:t>
            </a:r>
          </a:p>
          <a:p>
            <a:pPr algn="just"/>
            <a:r>
              <a:rPr lang="en-US" sz="2800" dirty="0" smtClean="0"/>
              <a:t>	2) Passive</a:t>
            </a:r>
          </a:p>
          <a:p>
            <a:pPr algn="just"/>
            <a:endParaRPr lang="en-US" sz="2800" dirty="0" smtClean="0"/>
          </a:p>
          <a:p>
            <a:pPr algn="just"/>
            <a:r>
              <a:rPr lang="en-US" sz="2800" dirty="0" smtClean="0"/>
              <a:t>The FTP server may support </a:t>
            </a:r>
            <a:r>
              <a:rPr lang="en-US" sz="2800" b="1" dirty="0" smtClean="0"/>
              <a:t>Active</a:t>
            </a:r>
            <a:r>
              <a:rPr lang="en-US" sz="2800" dirty="0" smtClean="0"/>
              <a:t> or </a:t>
            </a:r>
            <a:r>
              <a:rPr lang="en-US" sz="2800" b="1" dirty="0" smtClean="0"/>
              <a:t>Passive </a:t>
            </a:r>
            <a:r>
              <a:rPr lang="en-US" sz="2800" dirty="0" smtClean="0"/>
              <a:t>connections, or both.  </a:t>
            </a:r>
          </a:p>
          <a:p>
            <a:pPr algn="just"/>
            <a:endParaRPr lang="en-US" sz="2800" dirty="0" smtClean="0"/>
          </a:p>
          <a:p>
            <a:pPr algn="just"/>
            <a:r>
              <a:rPr lang="en-US" sz="2800" dirty="0" smtClean="0"/>
              <a:t>In an </a:t>
            </a:r>
            <a:r>
              <a:rPr lang="en-US" sz="2800" u="sng" dirty="0" smtClean="0">
                <a:solidFill>
                  <a:schemeClr val="accent2">
                    <a:lumMod val="50000"/>
                  </a:schemeClr>
                </a:solidFill>
              </a:rPr>
              <a:t>Active FTP </a:t>
            </a:r>
            <a:r>
              <a:rPr lang="en-US" sz="2800" dirty="0" smtClean="0"/>
              <a:t>connection, the client opens a port and listens and the server actively connects to it.  </a:t>
            </a:r>
          </a:p>
          <a:p>
            <a:pPr algn="just"/>
            <a:endParaRPr lang="en-US" sz="2800" dirty="0" smtClean="0"/>
          </a:p>
          <a:p>
            <a:pPr algn="just"/>
            <a:r>
              <a:rPr lang="en-US" sz="2800" dirty="0" smtClean="0"/>
              <a:t>In a </a:t>
            </a:r>
            <a:r>
              <a:rPr lang="en-US" sz="2800" u="sng" dirty="0" smtClean="0">
                <a:solidFill>
                  <a:schemeClr val="accent2">
                    <a:lumMod val="50000"/>
                  </a:schemeClr>
                </a:solidFill>
              </a:rPr>
              <a:t>Passive FTP </a:t>
            </a:r>
            <a:r>
              <a:rPr lang="en-US" sz="2800" dirty="0" smtClean="0"/>
              <a:t>connection, the server opens a port and listens (passively) and the client connects to it.</a:t>
            </a:r>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914400"/>
            <a:ext cx="8229600" cy="4389120"/>
          </a:xfrm>
        </p:spPr>
        <p:txBody>
          <a:bodyPr/>
          <a:lstStyle/>
          <a:p>
            <a:r>
              <a:rPr lang="en-US" sz="2800" dirty="0" smtClean="0"/>
              <a:t>Using the standard active mode of FTP, your computer communicates the port number where it will stand by to receive information from the controller and the IP address--internet location--from which or to which you want files to be transferred</a:t>
            </a:r>
            <a:endParaRPr lang="en-IN" dirty="0"/>
          </a:p>
        </p:txBody>
      </p:sp>
      <p:pic>
        <p:nvPicPr>
          <p:cNvPr id="5" name="Picture 4" descr="ftp-protocol"/>
          <p:cNvPicPr>
            <a:picLocks noChangeAspect="1" noChangeArrowheads="1"/>
          </p:cNvPicPr>
          <p:nvPr/>
        </p:nvPicPr>
        <p:blipFill>
          <a:blip r:embed="rId2" cstate="print"/>
          <a:srcRect/>
          <a:stretch>
            <a:fillRect/>
          </a:stretch>
        </p:blipFill>
        <p:spPr bwMode="auto">
          <a:xfrm>
            <a:off x="2057400" y="3886200"/>
            <a:ext cx="5029200" cy="198120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Difference between TELNET &amp; FTP</a:t>
            </a:r>
            <a:endParaRPr lang="en-US" sz="4000" dirty="0"/>
          </a:p>
        </p:txBody>
      </p:sp>
      <p:pic>
        <p:nvPicPr>
          <p:cNvPr id="1026" name="Picture 2"/>
          <p:cNvPicPr>
            <a:picLocks noGrp="1" noChangeAspect="1" noChangeArrowheads="1"/>
          </p:cNvPicPr>
          <p:nvPr>
            <p:ph sz="quarter" idx="1"/>
          </p:nvPr>
        </p:nvPicPr>
        <p:blipFill>
          <a:blip r:embed="rId2" cstate="print"/>
          <a:stretch>
            <a:fillRect/>
          </a:stretch>
        </p:blipFill>
        <p:spPr bwMode="auto">
          <a:xfrm>
            <a:off x="914400" y="1547812"/>
            <a:ext cx="7772400" cy="4371975"/>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019800"/>
          </a:xfrm>
        </p:spPr>
        <p:txBody>
          <a:bodyPr>
            <a:normAutofit lnSpcReduction="10000"/>
          </a:bodyPr>
          <a:lstStyle/>
          <a:p>
            <a:pPr>
              <a:buNone/>
            </a:pPr>
            <a:r>
              <a:rPr lang="en-US" sz="2400" b="1" dirty="0" smtClean="0"/>
              <a:t>WWW (World Wide Web)</a:t>
            </a:r>
          </a:p>
          <a:p>
            <a:pPr algn="just"/>
            <a:r>
              <a:rPr lang="en-US" sz="2000" dirty="0" smtClean="0"/>
              <a:t>The World Wide Web (abbreviated </a:t>
            </a:r>
            <a:r>
              <a:rPr lang="en-US" sz="2000" b="1" dirty="0" smtClean="0"/>
              <a:t>WWW</a:t>
            </a:r>
            <a:r>
              <a:rPr lang="en-US" sz="2000" dirty="0" smtClean="0"/>
              <a:t> or the Web) </a:t>
            </a:r>
            <a:r>
              <a:rPr lang="en-US" sz="2000" b="1" dirty="0" smtClean="0"/>
              <a:t>is</a:t>
            </a:r>
            <a:r>
              <a:rPr lang="en-US" sz="2000" dirty="0" smtClean="0"/>
              <a:t> an information space where documents and other web resources are identified by Uniform Resource Locators (URLs) can be accessed via the Internet.</a:t>
            </a:r>
          </a:p>
          <a:p>
            <a:pPr algn="just"/>
            <a:endParaRPr lang="en-US" sz="2000" dirty="0" smtClean="0"/>
          </a:p>
          <a:p>
            <a:pPr algn="just"/>
            <a:r>
              <a:rPr lang="en-US" sz="2000" dirty="0" smtClean="0"/>
              <a:t>Tim Berners-Lee, a British scientist at CERN, invented the World Wide Web (WWW) in 1989.</a:t>
            </a:r>
          </a:p>
          <a:p>
            <a:pPr algn="just"/>
            <a:r>
              <a:rPr lang="en-US" sz="2000" dirty="0" smtClean="0"/>
              <a:t> The web was originally conceived and developed to meet the demand for automatic information-sharing between scientists in universities and institutes around the world.</a:t>
            </a:r>
          </a:p>
          <a:p>
            <a:pPr algn="just"/>
            <a:endParaRPr lang="en-US" sz="2000" dirty="0" smtClean="0"/>
          </a:p>
          <a:p>
            <a:pPr algn="just"/>
            <a:r>
              <a:rPr lang="en-US" sz="2000" dirty="0" smtClean="0"/>
              <a:t>On 30 April 1993 CERN put the World Wide Web software in the public domain.</a:t>
            </a:r>
          </a:p>
          <a:p>
            <a:pPr algn="just"/>
            <a:endParaRPr lang="en-US" sz="2000" dirty="0" smtClean="0"/>
          </a:p>
          <a:p>
            <a:pPr algn="just"/>
            <a:r>
              <a:rPr lang="en-IN" sz="1800" dirty="0" smtClean="0"/>
              <a:t>The World Wide Web (WWW) is a network of online content that is formatted in HTML and accessed via HTTP.</a:t>
            </a:r>
            <a:endParaRPr lang="en-US" sz="2000" dirty="0" smtClean="0"/>
          </a:p>
          <a:p>
            <a:pPr algn="just"/>
            <a:endParaRPr lang="en-US" sz="2000" dirty="0" smtClean="0"/>
          </a:p>
          <a:p>
            <a:pPr algn="just"/>
            <a:r>
              <a:rPr lang="en-US" sz="2000" dirty="0" smtClean="0"/>
              <a:t>HTTP protocol is the method used to transfer web pages to your computer.</a:t>
            </a:r>
          </a:p>
          <a:p>
            <a:pPr algn="just"/>
            <a:endParaRPr lang="en-US" sz="2000" dirty="0" smtClean="0"/>
          </a:p>
          <a:p>
            <a:pPr algn="just"/>
            <a:endParaRPr 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838200"/>
            <a:ext cx="8229600" cy="5486400"/>
          </a:xfrm>
        </p:spPr>
        <p:txBody>
          <a:bodyPr>
            <a:normAutofit fontScale="70000" lnSpcReduction="20000"/>
          </a:bodyPr>
          <a:lstStyle/>
          <a:p>
            <a:r>
              <a:rPr lang="en-US" sz="2800" dirty="0" smtClean="0"/>
              <a:t>The </a:t>
            </a:r>
            <a:r>
              <a:rPr lang="en-US" sz="2800" b="1" dirty="0" smtClean="0"/>
              <a:t>World Wide Web</a:t>
            </a:r>
            <a:r>
              <a:rPr lang="en-US" sz="2800" dirty="0" smtClean="0"/>
              <a:t> (WWW or Web for short) is the part of the Internet that you can access using a web browser such as Internet Explorer or Firefox, etc.</a:t>
            </a:r>
          </a:p>
          <a:p>
            <a:endParaRPr lang="en-US" sz="2800" dirty="0" smtClean="0"/>
          </a:p>
          <a:p>
            <a:r>
              <a:rPr lang="en-US" sz="2800" dirty="0" smtClean="0"/>
              <a:t>With a web browser, one can view web pages that may contain text, images, videos and navigate between them via hyperlinks.</a:t>
            </a:r>
          </a:p>
          <a:p>
            <a:endParaRPr lang="en-US" sz="2800" dirty="0" smtClean="0"/>
          </a:p>
          <a:p>
            <a:pPr algn="just">
              <a:buFont typeface="Arial" pitchFamily="34" charset="0"/>
              <a:buChar char="•"/>
            </a:pPr>
            <a:r>
              <a:rPr lang="en-US" sz="2800" dirty="0" smtClean="0"/>
              <a:t>The World Wide Web consists of all the public Web sites connected to the Internet worldwide, including the client devices (such as computers and cell phones) that access Web content.</a:t>
            </a:r>
          </a:p>
          <a:p>
            <a:pPr algn="just">
              <a:buFont typeface="Arial" pitchFamily="34" charset="0"/>
              <a:buChar char="•"/>
            </a:pPr>
            <a:endParaRPr lang="en-US" sz="2800" dirty="0" smtClean="0"/>
          </a:p>
          <a:p>
            <a:pPr algn="just">
              <a:buFont typeface="Arial" pitchFamily="34" charset="0"/>
              <a:buChar char="•"/>
            </a:pPr>
            <a:r>
              <a:rPr lang="en-US" sz="2800" dirty="0" smtClean="0"/>
              <a:t>The internet Is the actual network of networks where all information resides.</a:t>
            </a:r>
          </a:p>
          <a:p>
            <a:pPr algn="just">
              <a:buFont typeface="Arial" pitchFamily="34" charset="0"/>
              <a:buChar char="•"/>
            </a:pPr>
            <a:endParaRPr lang="en-US" sz="2800" dirty="0" smtClean="0"/>
          </a:p>
          <a:p>
            <a:pPr algn="just">
              <a:buFont typeface="Arial" pitchFamily="34" charset="0"/>
              <a:buChar char="•"/>
            </a:pPr>
            <a:r>
              <a:rPr lang="en-US" sz="2800" dirty="0" smtClean="0"/>
              <a:t>Things like Telnet, ftp and email are part of the internet but not part of www.</a:t>
            </a:r>
          </a:p>
          <a:p>
            <a:pPr algn="just">
              <a:buFont typeface="Wingdings" pitchFamily="2" charset="2"/>
              <a:buChar char="ü"/>
            </a:pPr>
            <a:endParaRPr lang="en-US" sz="2800" dirty="0" smtClean="0"/>
          </a:p>
          <a:p>
            <a:pPr algn="just">
              <a:buFont typeface="Arial" pitchFamily="34" charset="0"/>
              <a:buChar char="•"/>
            </a:pPr>
            <a:r>
              <a:rPr lang="en-US" sz="2800" dirty="0" smtClean="0"/>
              <a:t>HTTP protocol is the method used to transfer web pages to your computer.</a:t>
            </a:r>
          </a:p>
          <a:p>
            <a:endParaRPr lang="en-I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internetwww.jpeg"/>
          <p:cNvPicPr>
            <a:picLocks noGrp="1" noChangeAspect="1"/>
          </p:cNvPicPr>
          <p:nvPr>
            <p:ph sz="quarter" idx="1"/>
          </p:nvPr>
        </p:nvPicPr>
        <p:blipFill>
          <a:blip r:embed="rId2" cstate="print"/>
          <a:srcRect/>
          <a:stretch>
            <a:fillRect/>
          </a:stretch>
        </p:blipFill>
        <p:spPr>
          <a:xfrm>
            <a:off x="685800" y="1143000"/>
            <a:ext cx="7641424" cy="4495800"/>
          </a:xfr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019800"/>
          </a:xfrm>
        </p:spPr>
        <p:txBody>
          <a:bodyPr>
            <a:normAutofit lnSpcReduction="10000"/>
          </a:bodyPr>
          <a:lstStyle/>
          <a:p>
            <a:pPr>
              <a:buNone/>
              <a:defRPr/>
            </a:pPr>
            <a:r>
              <a:rPr lang="en-US" sz="2000" b="1" dirty="0" smtClean="0"/>
              <a:t>The World Web is based on these technologies: </a:t>
            </a:r>
          </a:p>
          <a:p>
            <a:pPr>
              <a:buFont typeface="Wingdings 2" pitchFamily="18" charset="2"/>
              <a:buAutoNum type="arabicParenR"/>
              <a:defRPr/>
            </a:pPr>
            <a:r>
              <a:rPr lang="en-US" sz="2000" dirty="0" smtClean="0"/>
              <a:t>HTML - Hypertext Markup Language </a:t>
            </a:r>
            <a:endParaRPr lang="en-US" sz="2000" b="1" dirty="0" smtClean="0"/>
          </a:p>
          <a:p>
            <a:pPr>
              <a:buFont typeface="Wingdings 2" pitchFamily="18" charset="2"/>
              <a:buAutoNum type="arabicParenR"/>
              <a:defRPr/>
            </a:pPr>
            <a:r>
              <a:rPr lang="en-US" sz="2000" dirty="0" smtClean="0"/>
              <a:t>HTTP - Hypertext Transfer Protocol</a:t>
            </a:r>
          </a:p>
          <a:p>
            <a:pPr>
              <a:buFont typeface="Wingdings 2" pitchFamily="18" charset="2"/>
              <a:buAutoNum type="arabicParenR"/>
              <a:defRPr/>
            </a:pPr>
            <a:r>
              <a:rPr lang="en-US" sz="2000" dirty="0" smtClean="0"/>
              <a:t>Web servers and Web browsers </a:t>
            </a:r>
          </a:p>
          <a:p>
            <a:pPr marL="365760" indent="-283464">
              <a:buNone/>
              <a:defRPr/>
            </a:pPr>
            <a:endParaRPr lang="en-US" sz="2000" b="1" dirty="0" smtClean="0"/>
          </a:p>
          <a:p>
            <a:pPr marL="365760" indent="-283464">
              <a:defRPr/>
            </a:pPr>
            <a:r>
              <a:rPr lang="en-US" sz="2000" b="1" dirty="0" smtClean="0"/>
              <a:t>WWW Components :</a:t>
            </a:r>
          </a:p>
          <a:p>
            <a:pPr marL="514350" indent="-514350">
              <a:buNone/>
              <a:defRPr/>
            </a:pPr>
            <a:r>
              <a:rPr lang="en-US" sz="2000" dirty="0" smtClean="0"/>
              <a:t>1) Structural component</a:t>
            </a:r>
          </a:p>
          <a:p>
            <a:pPr marL="514350" indent="-514350">
              <a:buNone/>
              <a:defRPr/>
            </a:pPr>
            <a:r>
              <a:rPr lang="en-US" sz="2000" dirty="0" smtClean="0"/>
              <a:t>	-client</a:t>
            </a:r>
          </a:p>
          <a:p>
            <a:pPr marL="514350" indent="-514350">
              <a:buNone/>
              <a:defRPr/>
            </a:pPr>
            <a:r>
              <a:rPr lang="en-US" sz="2000" dirty="0" smtClean="0"/>
              <a:t>	-servers</a:t>
            </a:r>
          </a:p>
          <a:p>
            <a:pPr marL="514350" indent="-514350">
              <a:buNone/>
              <a:defRPr/>
            </a:pPr>
            <a:r>
              <a:rPr lang="en-US" sz="2000" dirty="0" smtClean="0"/>
              <a:t>	-caches</a:t>
            </a:r>
          </a:p>
          <a:p>
            <a:pPr marL="514350" indent="-514350">
              <a:buNone/>
              <a:defRPr/>
            </a:pPr>
            <a:r>
              <a:rPr lang="en-US" sz="2000" dirty="0" smtClean="0"/>
              <a:t>	-Internet</a:t>
            </a:r>
          </a:p>
          <a:p>
            <a:pPr marL="514350" indent="-514350">
              <a:buNone/>
              <a:defRPr/>
            </a:pPr>
            <a:r>
              <a:rPr lang="en-US" sz="2000" dirty="0" smtClean="0"/>
              <a:t>2) Semantic Components</a:t>
            </a:r>
          </a:p>
          <a:p>
            <a:pPr marL="514350" indent="-514350">
              <a:buNone/>
              <a:defRPr/>
            </a:pPr>
            <a:r>
              <a:rPr lang="en-US" sz="2000" dirty="0" smtClean="0"/>
              <a:t>	-Hyper Text Transfer Protocol</a:t>
            </a:r>
          </a:p>
          <a:p>
            <a:pPr marL="514350" indent="-514350">
              <a:buNone/>
              <a:defRPr/>
            </a:pPr>
            <a:r>
              <a:rPr lang="en-US" sz="2000" dirty="0" smtClean="0"/>
              <a:t>	-Hyper Text Markup Language</a:t>
            </a:r>
          </a:p>
          <a:p>
            <a:pPr marL="514350" indent="-514350">
              <a:buNone/>
              <a:defRPr/>
            </a:pPr>
            <a:r>
              <a:rPr lang="en-US" sz="2000" dirty="0" smtClean="0"/>
              <a:t>3) Extensible Markup Language(XML)</a:t>
            </a:r>
          </a:p>
          <a:p>
            <a:pPr marL="514350" indent="-514350">
              <a:buNone/>
              <a:defRPr/>
            </a:pPr>
            <a:r>
              <a:rPr lang="en-US" sz="2000" dirty="0" smtClean="0"/>
              <a:t>	-Uniform Resource Identifiers(URLs)</a:t>
            </a:r>
          </a:p>
          <a:p>
            <a:endParaRPr lang="en-IN" sz="2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www-diag.gif"/>
          <p:cNvPicPr>
            <a:picLocks noGrp="1" noChangeAspect="1"/>
          </p:cNvPicPr>
          <p:nvPr>
            <p:ph sz="quarter" idx="1"/>
          </p:nvPr>
        </p:nvPicPr>
        <p:blipFill>
          <a:blip r:embed="rId2" cstate="print"/>
          <a:stretch>
            <a:fillRect/>
          </a:stretch>
        </p:blipFill>
        <p:spPr>
          <a:xfrm>
            <a:off x="1524000" y="1371600"/>
            <a:ext cx="6279063" cy="4267200"/>
          </a:xfr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8229600" cy="5943600"/>
          </a:xfrm>
        </p:spPr>
        <p:txBody>
          <a:bodyPr>
            <a:normAutofit lnSpcReduction="10000"/>
          </a:bodyPr>
          <a:lstStyle/>
          <a:p>
            <a:pPr>
              <a:buNone/>
            </a:pPr>
            <a:r>
              <a:rPr lang="en-US" b="1" u="sng" dirty="0" smtClean="0"/>
              <a:t>Web Page : </a:t>
            </a:r>
          </a:p>
          <a:p>
            <a:r>
              <a:rPr lang="en-IN" sz="2000" dirty="0" smtClean="0"/>
              <a:t>A </a:t>
            </a:r>
            <a:r>
              <a:rPr lang="en-IN" sz="2000" b="1" dirty="0" smtClean="0"/>
              <a:t>web page</a:t>
            </a:r>
            <a:r>
              <a:rPr lang="en-IN" sz="2000" dirty="0" smtClean="0"/>
              <a:t>, or </a:t>
            </a:r>
            <a:r>
              <a:rPr lang="en-IN" sz="2000" b="1" dirty="0" smtClean="0"/>
              <a:t>webpage</a:t>
            </a:r>
            <a:r>
              <a:rPr lang="en-IN" sz="2000" dirty="0" smtClean="0"/>
              <a:t>, is a document that is suitable for the World Wide </a:t>
            </a:r>
            <a:r>
              <a:rPr lang="en-IN" sz="2000" b="1" dirty="0" smtClean="0"/>
              <a:t>Web</a:t>
            </a:r>
            <a:r>
              <a:rPr lang="en-IN" sz="2000" dirty="0" smtClean="0"/>
              <a:t> and </a:t>
            </a:r>
            <a:r>
              <a:rPr lang="en-IN" sz="2000" b="1" dirty="0" smtClean="0"/>
              <a:t>web</a:t>
            </a:r>
            <a:r>
              <a:rPr lang="en-IN" sz="2000" dirty="0" smtClean="0"/>
              <a:t> browsers.</a:t>
            </a:r>
          </a:p>
          <a:p>
            <a:endParaRPr lang="en-IN" sz="2000" dirty="0" smtClean="0"/>
          </a:p>
          <a:p>
            <a:r>
              <a:rPr lang="en-US" sz="2000" dirty="0" smtClean="0"/>
              <a:t>A web page is a unit of information, often called a document that is available via www.</a:t>
            </a:r>
          </a:p>
          <a:p>
            <a:endParaRPr lang="en-IN" sz="2000" dirty="0" smtClean="0"/>
          </a:p>
          <a:p>
            <a:r>
              <a:rPr lang="en-IN" sz="2000" dirty="0" smtClean="0"/>
              <a:t>A </a:t>
            </a:r>
            <a:r>
              <a:rPr lang="en-IN" sz="2000" b="1" dirty="0" smtClean="0"/>
              <a:t>web</a:t>
            </a:r>
            <a:r>
              <a:rPr lang="en-IN" sz="2000" dirty="0" smtClean="0"/>
              <a:t> browser displays a </a:t>
            </a:r>
            <a:r>
              <a:rPr lang="en-IN" sz="2000" b="1" dirty="0" smtClean="0"/>
              <a:t>web page</a:t>
            </a:r>
            <a:r>
              <a:rPr lang="en-IN" sz="2000" dirty="0" smtClean="0"/>
              <a:t> on a monitor or mobile device.</a:t>
            </a:r>
          </a:p>
          <a:p>
            <a:r>
              <a:rPr lang="en-US" sz="2000" dirty="0" smtClean="0"/>
              <a:t>A web page can be longer than one computer screen and can use more than one piece of paper when it is printed out.</a:t>
            </a:r>
          </a:p>
          <a:p>
            <a:r>
              <a:rPr lang="en-US" sz="2000" dirty="0" smtClean="0"/>
              <a:t>A Web page is created using HTML. It consist of standardized codes or “tags”, that are used to define the structure of information on a web page.</a:t>
            </a:r>
          </a:p>
          <a:p>
            <a:r>
              <a:rPr lang="en-US" sz="2000" dirty="0" smtClean="0"/>
              <a:t>These codes enable web pages to have many feature including bold text, headings, paragraph breaks and numbered or bulleted lists.</a:t>
            </a:r>
          </a:p>
          <a:p>
            <a:r>
              <a:rPr lang="en-US" sz="2000" dirty="0" smtClean="0"/>
              <a:t>Web Pages have two types :</a:t>
            </a:r>
          </a:p>
          <a:p>
            <a:pPr>
              <a:buNone/>
            </a:pPr>
            <a:r>
              <a:rPr lang="en-US" sz="2000" dirty="0" smtClean="0"/>
              <a:t>	</a:t>
            </a:r>
            <a:r>
              <a:rPr lang="en-US" sz="2000" b="1" dirty="0" smtClean="0"/>
              <a:t>(1) Static</a:t>
            </a:r>
          </a:p>
          <a:p>
            <a:pPr>
              <a:buNone/>
            </a:pPr>
            <a:r>
              <a:rPr lang="en-US" sz="2000" b="1" dirty="0" smtClean="0"/>
              <a:t>	(2) Dynamic</a:t>
            </a:r>
          </a:p>
          <a:p>
            <a:endParaRPr lang="en-IN" sz="2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019800"/>
          </a:xfrm>
        </p:spPr>
        <p:txBody>
          <a:bodyPr>
            <a:normAutofit/>
          </a:bodyPr>
          <a:lstStyle/>
          <a:p>
            <a:pPr algn="just">
              <a:buNone/>
            </a:pPr>
            <a:r>
              <a:rPr lang="en-US" sz="2400" b="1" dirty="0" smtClean="0"/>
              <a:t>Static web page </a:t>
            </a:r>
            <a:r>
              <a:rPr lang="en-US" sz="2400" dirty="0" smtClean="0"/>
              <a:t>: </a:t>
            </a:r>
          </a:p>
          <a:p>
            <a:pPr algn="just">
              <a:buNone/>
            </a:pPr>
            <a:endParaRPr lang="en-US" sz="2400" dirty="0" smtClean="0"/>
          </a:p>
          <a:p>
            <a:r>
              <a:rPr lang="en-US" sz="2000" dirty="0" smtClean="0"/>
              <a:t>"Static" means unchanged or constant.</a:t>
            </a:r>
          </a:p>
          <a:p>
            <a:r>
              <a:rPr lang="en-US" sz="2000" dirty="0" smtClean="0"/>
              <a:t>static Web pages contain the same prebuilt content each time the page is loaded</a:t>
            </a:r>
            <a:endParaRPr lang="en-US" sz="2000" b="1" dirty="0" smtClean="0"/>
          </a:p>
          <a:p>
            <a:r>
              <a:rPr lang="en-US" sz="2000" dirty="0" smtClean="0"/>
              <a:t>Standard HTML pages are static Web pages.</a:t>
            </a:r>
          </a:p>
          <a:p>
            <a:r>
              <a:rPr lang="en-US" sz="2000" dirty="0" smtClean="0"/>
              <a:t>Each time an HTML page is loaded, it looks the same. The only way the content of an HTML page will change is if the Web developer updates and publishes the file.</a:t>
            </a:r>
          </a:p>
          <a:p>
            <a:r>
              <a:rPr lang="en-IN" sz="2000" dirty="0" smtClean="0"/>
              <a:t>Static website is the basic type of website that is easy to create. You don't need web programming and database design to create a static website. Its web pages are coded in HTML.</a:t>
            </a:r>
          </a:p>
          <a:p>
            <a:r>
              <a:rPr lang="en-IN" sz="2000" dirty="0" smtClean="0"/>
              <a:t>The codes are fixed for each page so the information contained in the page does not change and it looks like a printed page.</a:t>
            </a:r>
          </a:p>
          <a:p>
            <a:pPr algn="just"/>
            <a:endParaRPr lang="en-IN"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8229600" cy="5943600"/>
          </a:xfrm>
        </p:spPr>
        <p:txBody>
          <a:bodyPr>
            <a:normAutofit/>
          </a:bodyPr>
          <a:lstStyle/>
          <a:p>
            <a:pPr algn="just">
              <a:buNone/>
            </a:pPr>
            <a:r>
              <a:rPr lang="en-US" sz="2400" b="1" dirty="0" smtClean="0"/>
              <a:t>Dynamic web pages : </a:t>
            </a:r>
          </a:p>
          <a:p>
            <a:pPr algn="just"/>
            <a:r>
              <a:rPr lang="en-IN" sz="2000" dirty="0" smtClean="0"/>
              <a:t>A </a:t>
            </a:r>
            <a:r>
              <a:rPr lang="en-IN" sz="2000" b="1" dirty="0" smtClean="0"/>
              <a:t>dynamic web page</a:t>
            </a:r>
            <a:r>
              <a:rPr lang="en-IN" sz="2000" dirty="0" smtClean="0"/>
              <a:t> is a </a:t>
            </a:r>
            <a:r>
              <a:rPr lang="en-IN" sz="2000" b="1" dirty="0" smtClean="0"/>
              <a:t>web page</a:t>
            </a:r>
            <a:r>
              <a:rPr lang="en-IN" sz="2000" dirty="0" smtClean="0"/>
              <a:t> that displays different content each time it's viewed. For example, the </a:t>
            </a:r>
            <a:r>
              <a:rPr lang="en-IN" sz="2000" b="1" dirty="0" smtClean="0"/>
              <a:t>page</a:t>
            </a:r>
            <a:r>
              <a:rPr lang="en-IN" sz="2000" dirty="0" smtClean="0"/>
              <a:t> may change with the time of day.</a:t>
            </a:r>
          </a:p>
          <a:p>
            <a:pPr algn="just"/>
            <a:r>
              <a:rPr lang="en-IN" sz="2000" dirty="0" smtClean="0"/>
              <a:t>It accesses content from a database or Content Management System (CMS). Therefore, when you alter or update the content of the database, the content of the website is also altered or updated.</a:t>
            </a:r>
          </a:p>
          <a:p>
            <a:pPr algn="just"/>
            <a:r>
              <a:rPr lang="en-IN" sz="2000" dirty="0" smtClean="0"/>
              <a:t>Dynamic website uses </a:t>
            </a:r>
            <a:r>
              <a:rPr lang="en-IN" sz="2000" b="1" dirty="0" smtClean="0"/>
              <a:t>client-side scripting</a:t>
            </a:r>
            <a:r>
              <a:rPr lang="en-IN" sz="2000" dirty="0" smtClean="0"/>
              <a:t> or </a:t>
            </a:r>
            <a:r>
              <a:rPr lang="en-IN" sz="2000" b="1" dirty="0" smtClean="0"/>
              <a:t>server-side scripting</a:t>
            </a:r>
            <a:r>
              <a:rPr lang="en-IN" sz="2000" dirty="0" smtClean="0"/>
              <a:t>, or both to generate dynamic content.</a:t>
            </a:r>
          </a:p>
          <a:p>
            <a:pPr algn="just"/>
            <a:endParaRPr lang="en-IN" sz="2000" dirty="0"/>
          </a:p>
        </p:txBody>
      </p:sp>
      <p:pic>
        <p:nvPicPr>
          <p:cNvPr id="6" name="Picture 5" descr="Untitled.png"/>
          <p:cNvPicPr>
            <a:picLocks noChangeAspect="1"/>
          </p:cNvPicPr>
          <p:nvPr/>
        </p:nvPicPr>
        <p:blipFill>
          <a:blip r:embed="rId2" cstate="print"/>
          <a:stretch>
            <a:fillRect/>
          </a:stretch>
        </p:blipFill>
        <p:spPr>
          <a:xfrm>
            <a:off x="762000" y="4038600"/>
            <a:ext cx="7924800" cy="25908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US" sz="2400" u="sng" dirty="0" smtClean="0"/>
              <a:t>There are two </a:t>
            </a:r>
            <a:r>
              <a:rPr lang="en-US" sz="2400" b="1" u="sng" dirty="0" smtClean="0"/>
              <a:t>types of dynamic web pages. </a:t>
            </a:r>
          </a:p>
          <a:p>
            <a:endParaRPr lang="en-US" sz="2400" dirty="0" smtClean="0"/>
          </a:p>
          <a:p>
            <a:endParaRPr lang="en-US" sz="2400" dirty="0" smtClean="0"/>
          </a:p>
          <a:p>
            <a:r>
              <a:rPr lang="en-US" sz="2400" dirty="0" smtClean="0"/>
              <a:t>		</a:t>
            </a:r>
            <a:r>
              <a:rPr lang="en-US" sz="2400" b="1" dirty="0" smtClean="0">
                <a:solidFill>
                  <a:schemeClr val="tx2">
                    <a:lumMod val="60000"/>
                    <a:lumOff val="40000"/>
                  </a:schemeClr>
                </a:solidFill>
              </a:rPr>
              <a:t>1)Client-Side Scripting</a:t>
            </a:r>
          </a:p>
          <a:p>
            <a:r>
              <a:rPr lang="en-US" sz="2400" b="1" dirty="0" smtClean="0">
                <a:solidFill>
                  <a:schemeClr val="tx2">
                    <a:lumMod val="60000"/>
                    <a:lumOff val="40000"/>
                  </a:schemeClr>
                </a:solidFill>
              </a:rPr>
              <a:t>	</a:t>
            </a:r>
          </a:p>
          <a:p>
            <a:r>
              <a:rPr lang="en-US" sz="2400" b="1" dirty="0" smtClean="0">
                <a:solidFill>
                  <a:schemeClr val="tx2">
                    <a:lumMod val="60000"/>
                    <a:lumOff val="40000"/>
                  </a:schemeClr>
                </a:solidFill>
              </a:rPr>
              <a:t>		2)Server-Side Scripting</a:t>
            </a:r>
            <a:endParaRPr lang="en-I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019800"/>
          </a:xfrm>
        </p:spPr>
        <p:txBody>
          <a:bodyPr>
            <a:normAutofit/>
          </a:bodyPr>
          <a:lstStyle/>
          <a:p>
            <a:endParaRPr lang="en-IN" sz="2000" b="1" dirty="0" smtClean="0"/>
          </a:p>
          <a:p>
            <a:pPr>
              <a:buNone/>
            </a:pPr>
            <a:endParaRPr lang="en-IN" sz="2400" b="1" u="sng" dirty="0" smtClean="0"/>
          </a:p>
          <a:p>
            <a:pPr>
              <a:buNone/>
            </a:pPr>
            <a:r>
              <a:rPr lang="en-IN" sz="2400" b="1" u="sng" dirty="0" smtClean="0"/>
              <a:t>Client-side scripting</a:t>
            </a:r>
            <a:r>
              <a:rPr lang="en-IN" sz="2000" dirty="0" smtClean="0"/>
              <a:t> refers to the programs that are executed on client-side. </a:t>
            </a:r>
          </a:p>
          <a:p>
            <a:pPr>
              <a:buNone/>
            </a:pPr>
            <a:r>
              <a:rPr lang="en-IN" sz="2000" dirty="0" smtClean="0"/>
              <a:t>Client-side scripts contains the instruction for the browser to be executed in response to certain user’s action.</a:t>
            </a:r>
          </a:p>
          <a:p>
            <a:endParaRPr lang="en-IN" sz="2000" dirty="0" smtClean="0"/>
          </a:p>
          <a:p>
            <a:r>
              <a:rPr lang="en-IN" sz="2000" dirty="0" smtClean="0"/>
              <a:t>It is processed using client side scripting such as JavaScript. And then passed in to </a:t>
            </a:r>
            <a:r>
              <a:rPr lang="en-IN" sz="2000" b="1" dirty="0" smtClean="0"/>
              <a:t>Document Object Model (DOM).</a:t>
            </a:r>
          </a:p>
          <a:p>
            <a:endParaRPr lang="en-US" sz="2000" dirty="0" smtClean="0"/>
          </a:p>
          <a:p>
            <a:r>
              <a:rPr lang="en-US" sz="2000" dirty="0" smtClean="0"/>
              <a:t>Client-side content is content that's generated on the user's computer rather than the server. </a:t>
            </a:r>
          </a:p>
          <a:p>
            <a:endParaRPr lang="en-US" sz="2000" dirty="0" smtClean="0"/>
          </a:p>
          <a:p>
            <a:r>
              <a:rPr lang="en-US" sz="2000" dirty="0" smtClean="0"/>
              <a:t>In these cases, the user's web browser would download the web page content from the server, process the code that's embedded in the web page, and then display the updated content to the user.</a:t>
            </a:r>
          </a:p>
          <a:p>
            <a:pPr>
              <a:buNone/>
            </a:pPr>
            <a:r>
              <a:rPr lang="en-IN" sz="2000" dirty="0" smtClean="0"/>
              <a:t> </a:t>
            </a:r>
            <a:endParaRPr lang="en-IN" sz="2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838200"/>
            <a:ext cx="8229600" cy="5486400"/>
          </a:xfrm>
        </p:spPr>
        <p:txBody>
          <a:bodyPr>
            <a:normAutofit/>
          </a:bodyPr>
          <a:lstStyle/>
          <a:p>
            <a:pPr>
              <a:buNone/>
            </a:pPr>
            <a:endParaRPr lang="en-IN" sz="2400" b="1" u="sng" dirty="0" smtClean="0"/>
          </a:p>
          <a:p>
            <a:pPr>
              <a:buNone/>
            </a:pPr>
            <a:r>
              <a:rPr lang="en-IN" sz="2400" b="1" u="sng" dirty="0" smtClean="0"/>
              <a:t>server side scripting</a:t>
            </a:r>
            <a:r>
              <a:rPr lang="en-IN" sz="2400" dirty="0" smtClean="0"/>
              <a:t>, the software runs on the server and processing is completed in the server then plain pages are sent to the user.</a:t>
            </a:r>
          </a:p>
          <a:p>
            <a:r>
              <a:rPr lang="en-US" sz="2400" dirty="0" smtClean="0"/>
              <a:t>For example, login pages, forums, submission forms, and shopping carts, all use server-side scripting since those web pages change according to what is submitted to it.</a:t>
            </a:r>
          </a:p>
          <a:p>
            <a:r>
              <a:rPr lang="en-US" sz="2400" dirty="0" smtClean="0"/>
              <a:t>Scripting languages such as PHP, ASP, ASP.NET, JSP, ColdFusion and Perl allow a web page to respond to submission events.</a:t>
            </a:r>
          </a:p>
          <a:p>
            <a:endParaRPr lang="en-I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computerhope.com/jargon/c/client-side-vs-server-side.jpg"/>
          <p:cNvPicPr>
            <a:picLocks noGrp="1" noChangeAspect="1" noChangeArrowheads="1"/>
          </p:cNvPicPr>
          <p:nvPr>
            <p:ph sz="quarter" idx="1"/>
          </p:nvPr>
        </p:nvPicPr>
        <p:blipFill>
          <a:blip r:embed="rId2" cstate="print"/>
          <a:srcRect/>
          <a:stretch>
            <a:fillRect/>
          </a:stretch>
        </p:blipFill>
        <p:spPr bwMode="auto">
          <a:xfrm>
            <a:off x="1219200" y="533400"/>
            <a:ext cx="7010400" cy="579120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85800"/>
            <a:ext cx="8229600" cy="5638800"/>
          </a:xfrm>
        </p:spPr>
        <p:txBody>
          <a:bodyPr>
            <a:normAutofit/>
          </a:bodyPr>
          <a:lstStyle/>
          <a:p>
            <a:pPr>
              <a:buNone/>
            </a:pPr>
            <a:r>
              <a:rPr lang="en-US" dirty="0" smtClean="0"/>
              <a:t>For more please visit: </a:t>
            </a:r>
          </a:p>
          <a:p>
            <a:r>
              <a:rPr lang="en-IN" dirty="0" smtClean="0">
                <a:hlinkClick r:id="rId2"/>
              </a:rPr>
              <a:t>https://www.javatpoint.com/website-static-vs-dynamic</a:t>
            </a:r>
            <a:endParaRPr lang="en-IN" dirty="0" smtClean="0"/>
          </a:p>
          <a:p>
            <a:r>
              <a:rPr lang="en-IN" dirty="0" smtClean="0">
                <a:hlinkClick r:id="rId3"/>
              </a:rPr>
              <a:t>https://www.doteasy.com/web-hosting-articles/what-is-a-dynamic-web-page.cfm</a:t>
            </a:r>
            <a:endParaRPr lang="en-IN" dirty="0" smtClean="0"/>
          </a:p>
          <a:p>
            <a:r>
              <a:rPr lang="en-IN" dirty="0" smtClean="0">
                <a:hlinkClick r:id="rId4"/>
              </a:rPr>
              <a:t>http://smallbusiness.chron.com/difference-between-dynamic-static-pages-69951.html</a:t>
            </a:r>
            <a:endParaRPr lang="en-IN" dirty="0" smtClean="0"/>
          </a:p>
          <a:p>
            <a:r>
              <a:rPr lang="en-IN" dirty="0" smtClean="0">
                <a:hlinkClick r:id="rId5"/>
              </a:rPr>
              <a:t>https://www.tutorialspoint.com/internet_technologies/web_pages.htm</a:t>
            </a:r>
            <a:endParaRPr lang="en-IN" dirty="0" smtClean="0"/>
          </a:p>
          <a:p>
            <a:r>
              <a:rPr lang="en-IN" dirty="0" smtClean="0">
                <a:hlinkClick r:id="rId6"/>
              </a:rPr>
              <a:t>https://www.computerhope.com/jargon/w/webpage.htm</a:t>
            </a:r>
            <a:endParaRPr lang="en-IN" dirty="0" smtClean="0"/>
          </a:p>
          <a:p>
            <a:pPr>
              <a:buNone/>
            </a:pPr>
            <a:endParaRPr lang="en-I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019800"/>
          </a:xfrm>
        </p:spPr>
        <p:txBody>
          <a:bodyPr>
            <a:normAutofit/>
          </a:bodyPr>
          <a:lstStyle/>
          <a:p>
            <a:pPr>
              <a:buNone/>
            </a:pPr>
            <a:endParaRPr lang="en-IN" sz="2000" dirty="0" smtClean="0"/>
          </a:p>
          <a:p>
            <a:pPr>
              <a:buNone/>
            </a:pPr>
            <a:r>
              <a:rPr lang="en-IN" sz="2000" b="1" u="sng" dirty="0" smtClean="0"/>
              <a:t>HTTP (Hyper Text Transfer Protocol)</a:t>
            </a:r>
          </a:p>
          <a:p>
            <a:pPr>
              <a:buNone/>
            </a:pPr>
            <a:endParaRPr lang="en-IN" sz="2000" b="1" u="sng" dirty="0" smtClean="0"/>
          </a:p>
          <a:p>
            <a:r>
              <a:rPr lang="en-IN" sz="2000" dirty="0" smtClean="0"/>
              <a:t>The Hypertext Transfer Protocol (HTTP) is application-level protocol for collaborative, distributed, hypermedia information systems. </a:t>
            </a:r>
          </a:p>
          <a:p>
            <a:endParaRPr lang="en-IN" sz="2000" dirty="0" smtClean="0"/>
          </a:p>
          <a:p>
            <a:r>
              <a:rPr lang="en-IN" sz="2000" dirty="0" smtClean="0"/>
              <a:t>It is the data communication protocol used to establish communication between client and server.</a:t>
            </a:r>
          </a:p>
          <a:p>
            <a:endParaRPr lang="en-IN" sz="2000" dirty="0" smtClean="0"/>
          </a:p>
          <a:p>
            <a:r>
              <a:rPr lang="en-IN" sz="2000" dirty="0" smtClean="0"/>
              <a:t>HTTP is TCP/IP based communication protocol, which is used to deliver the data like image files, query results, HTML files etc on the World Wide Web (WWW) with the default port is TCP </a:t>
            </a:r>
            <a:r>
              <a:rPr lang="en-IN" sz="2000" b="1" dirty="0" smtClean="0"/>
              <a:t>80.</a:t>
            </a:r>
            <a:r>
              <a:rPr lang="en-IN" sz="2000" dirty="0" smtClean="0"/>
              <a:t> </a:t>
            </a:r>
          </a:p>
          <a:p>
            <a:endParaRPr lang="en-IN" sz="2000" dirty="0" smtClean="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096000"/>
          </a:xfrm>
        </p:spPr>
        <p:txBody>
          <a:bodyPr>
            <a:normAutofit fontScale="92500" lnSpcReduction="10000"/>
          </a:bodyPr>
          <a:lstStyle/>
          <a:p>
            <a:pPr>
              <a:buNone/>
            </a:pPr>
            <a:r>
              <a:rPr lang="en-IN" sz="2000" b="1" dirty="0" smtClean="0"/>
              <a:t>The Basic Characteristics of HTTP (Hyper Text Transfer Protocol):</a:t>
            </a:r>
            <a:endParaRPr lang="en-IN" sz="2000" dirty="0" smtClean="0"/>
          </a:p>
          <a:p>
            <a:r>
              <a:rPr lang="en-IN" sz="2200" dirty="0" smtClean="0"/>
              <a:t>It is the protocol that allows web servers and browsers to exchange data over the web.</a:t>
            </a:r>
          </a:p>
          <a:p>
            <a:r>
              <a:rPr lang="en-IN" sz="2200" dirty="0" smtClean="0"/>
              <a:t>It is a request response protocol.</a:t>
            </a:r>
          </a:p>
          <a:p>
            <a:r>
              <a:rPr lang="en-IN" sz="2200" dirty="0" smtClean="0"/>
              <a:t>It uses the reliable TCP connections by default on TCP port 80.</a:t>
            </a:r>
          </a:p>
          <a:p>
            <a:endParaRPr lang="en-IN" sz="2200" dirty="0" smtClean="0"/>
          </a:p>
          <a:p>
            <a:r>
              <a:rPr lang="en-US" sz="2200" dirty="0" smtClean="0"/>
              <a:t>Http is </a:t>
            </a:r>
            <a:r>
              <a:rPr lang="en-US" sz="2200" b="1" dirty="0" smtClean="0"/>
              <a:t>Connectionless </a:t>
            </a:r>
            <a:r>
              <a:rPr lang="en-US" sz="2200" dirty="0" smtClean="0"/>
              <a:t>means after making a request the client, disconnect from the server. After that when the response is ready the server re- established the connection again and deliver the response to the client.</a:t>
            </a:r>
            <a:r>
              <a:rPr lang="en-IN" sz="2200" dirty="0" smtClean="0"/>
              <a:t> </a:t>
            </a:r>
          </a:p>
          <a:p>
            <a:r>
              <a:rPr lang="en-IN" sz="2200" dirty="0" smtClean="0"/>
              <a:t>HTTP is also known as </a:t>
            </a:r>
            <a:r>
              <a:rPr lang="en-IN" sz="2200" b="1" dirty="0" smtClean="0"/>
              <a:t>CL-mode </a:t>
            </a:r>
            <a:r>
              <a:rPr lang="en-IN" sz="2200" dirty="0" smtClean="0"/>
              <a:t>communication</a:t>
            </a:r>
            <a:endParaRPr lang="en-US" sz="2200" dirty="0" smtClean="0"/>
          </a:p>
          <a:p>
            <a:endParaRPr lang="en-IN" sz="2200" dirty="0" smtClean="0"/>
          </a:p>
          <a:p>
            <a:r>
              <a:rPr lang="en-IN" sz="2200" dirty="0" smtClean="0"/>
              <a:t>It is </a:t>
            </a:r>
            <a:r>
              <a:rPr lang="en-IN" sz="2200" b="1" dirty="0" smtClean="0"/>
              <a:t>stateless</a:t>
            </a:r>
            <a:r>
              <a:rPr lang="en-IN" sz="2200" dirty="0" smtClean="0"/>
              <a:t> means </a:t>
            </a:r>
            <a:r>
              <a:rPr lang="en-IN" sz="2200" b="1" dirty="0" smtClean="0"/>
              <a:t>each request is considered as the new request</a:t>
            </a:r>
            <a:r>
              <a:rPr lang="en-IN" sz="2200" dirty="0" smtClean="0"/>
              <a:t>. In other words.</a:t>
            </a:r>
          </a:p>
          <a:p>
            <a:r>
              <a:rPr lang="en-IN" sz="2200" b="1" dirty="0" smtClean="0"/>
              <a:t>Server does not maintain the state</a:t>
            </a:r>
            <a:r>
              <a:rPr lang="en-IN" sz="2200" dirty="0" smtClean="0"/>
              <a:t> of the client. That is, when the response is delivered, the server simply forgets the client. If the client wants the same data, it must again establish a new connection, send request and receive response and the same earlier process is to be repeated. For this reason, </a:t>
            </a:r>
            <a:r>
              <a:rPr lang="en-IN" sz="2200" b="1" dirty="0" smtClean="0"/>
              <a:t>HTTP protocol is treated as stateless protocol</a:t>
            </a:r>
            <a:r>
              <a:rPr lang="en-IN" sz="2200" dirty="0" smtClean="0"/>
              <a:t>.</a:t>
            </a:r>
          </a:p>
          <a:p>
            <a:pPr>
              <a:buNone/>
            </a:pPr>
            <a:endParaRPr lang="en-IN" sz="2200" dirty="0" smtClean="0"/>
          </a:p>
          <a:p>
            <a:endParaRPr lang="en-IN" sz="2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IN" dirty="0" smtClean="0"/>
              <a:t> if the client would like to request the same server 100 times, the client should establish a new connection 100 times as the server closes the connection for each request when the response is delivered.</a:t>
            </a:r>
          </a:p>
          <a:p>
            <a:r>
              <a:rPr lang="en-IN" sz="2800" b="1" dirty="0" smtClean="0"/>
              <a:t>why HTTP was designed as connectionless?</a:t>
            </a:r>
            <a:endParaRPr lang="en-IN" sz="2800" b="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IN" dirty="0" smtClean="0"/>
              <a:t>HTTP Protocol was designed as connectionless for the reason, the </a:t>
            </a:r>
            <a:r>
              <a:rPr lang="en-IN" b="1" dirty="0" smtClean="0"/>
              <a:t>server resources should be shared equally by all the clients </a:t>
            </a:r>
            <a:r>
              <a:rPr lang="en-IN" dirty="0" smtClean="0"/>
              <a:t>throughout world. If one client holds the server with 100 requests, by all the requests are answered, the server cannot allocate time for other clients.</a:t>
            </a:r>
            <a:endParaRPr lang="en-I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8229600" cy="6248400"/>
          </a:xfrm>
        </p:spPr>
        <p:txBody>
          <a:bodyPr>
            <a:normAutofit/>
          </a:bodyPr>
          <a:lstStyle/>
          <a:p>
            <a:pPr algn="just">
              <a:spcBef>
                <a:spcPct val="50000"/>
              </a:spcBef>
            </a:pPr>
            <a:r>
              <a:rPr lang="en-US" sz="2000" dirty="0" smtClean="0"/>
              <a:t>When user selects a hypertext link, the client program on their computer uses HTTP to contact the server, identify a resource, and ask the server to respond with an action.</a:t>
            </a:r>
          </a:p>
          <a:p>
            <a:pPr algn="just">
              <a:spcBef>
                <a:spcPct val="50000"/>
              </a:spcBef>
            </a:pPr>
            <a:r>
              <a:rPr lang="en-US" sz="2000" dirty="0" smtClean="0"/>
              <a:t>The server accepts the request, and then uses HTTP to respond to or to perform the action.</a:t>
            </a:r>
          </a:p>
          <a:p>
            <a:pPr algn="just">
              <a:spcBef>
                <a:spcPct val="50000"/>
              </a:spcBef>
            </a:pPr>
            <a:r>
              <a:rPr lang="en-US" sz="2000" dirty="0" smtClean="0"/>
              <a:t>Usually, </a:t>
            </a:r>
            <a:r>
              <a:rPr lang="en-US" sz="2000" b="1" dirty="0" smtClean="0"/>
              <a:t>hypertext links will be blue in </a:t>
            </a:r>
            <a:r>
              <a:rPr lang="en-US" sz="2000" b="1" dirty="0" err="1" smtClean="0"/>
              <a:t>colour</a:t>
            </a:r>
            <a:r>
              <a:rPr lang="en-US" sz="2000" b="1" dirty="0" smtClean="0"/>
              <a:t> </a:t>
            </a:r>
            <a:r>
              <a:rPr lang="en-US" sz="2000" dirty="0" smtClean="0"/>
              <a:t>and will be underlined. When you move the mouse pointer over a hyperlink, the pointer changes its shape to that of hand.</a:t>
            </a:r>
          </a:p>
          <a:p>
            <a:pPr algn="just">
              <a:spcBef>
                <a:spcPct val="50000"/>
              </a:spcBef>
            </a:pPr>
            <a:r>
              <a:rPr lang="en-US" sz="2000" dirty="0" smtClean="0"/>
              <a:t>http:// in front of the address tells the browser to communicate over HTTP.</a:t>
            </a:r>
          </a:p>
          <a:p>
            <a:pPr>
              <a:spcBef>
                <a:spcPct val="50000"/>
              </a:spcBef>
            </a:pPr>
            <a:endParaRPr lang="en-IN" sz="2000" dirty="0"/>
          </a:p>
        </p:txBody>
      </p:sp>
      <p:grpSp>
        <p:nvGrpSpPr>
          <p:cNvPr id="4" name="Group 3"/>
          <p:cNvGrpSpPr/>
          <p:nvPr/>
        </p:nvGrpSpPr>
        <p:grpSpPr>
          <a:xfrm>
            <a:off x="914400" y="4191000"/>
            <a:ext cx="5562600" cy="2286000"/>
            <a:chOff x="1371600" y="228600"/>
            <a:chExt cx="5867400" cy="2271713"/>
          </a:xfrm>
        </p:grpSpPr>
        <p:pic>
          <p:nvPicPr>
            <p:cNvPr id="5" name="Picture 4" descr="http"/>
            <p:cNvPicPr>
              <a:picLocks noChangeAspect="1" noChangeArrowheads="1"/>
            </p:cNvPicPr>
            <p:nvPr/>
          </p:nvPicPr>
          <p:blipFill>
            <a:blip r:embed="rId2" cstate="print"/>
            <a:srcRect/>
            <a:stretch>
              <a:fillRect/>
            </a:stretch>
          </p:blipFill>
          <p:spPr bwMode="auto">
            <a:xfrm>
              <a:off x="1371600" y="228600"/>
              <a:ext cx="3276600" cy="1905000"/>
            </a:xfrm>
            <a:prstGeom prst="rect">
              <a:avLst/>
            </a:prstGeom>
            <a:noFill/>
            <a:ln w="9525">
              <a:noFill/>
              <a:miter lim="800000"/>
              <a:headEnd/>
              <a:tailEnd/>
            </a:ln>
          </p:spPr>
        </p:pic>
        <p:sp>
          <p:nvSpPr>
            <p:cNvPr id="6" name="Line 7"/>
            <p:cNvSpPr>
              <a:spLocks noChangeShapeType="1"/>
            </p:cNvSpPr>
            <p:nvPr/>
          </p:nvSpPr>
          <p:spPr bwMode="auto">
            <a:xfrm flipV="1">
              <a:off x="4724400" y="457200"/>
              <a:ext cx="457200" cy="609600"/>
            </a:xfrm>
            <a:prstGeom prst="line">
              <a:avLst/>
            </a:prstGeom>
            <a:noFill/>
            <a:ln w="9525">
              <a:solidFill>
                <a:schemeClr val="tx1"/>
              </a:solidFill>
              <a:round/>
              <a:headEnd/>
              <a:tailEnd type="triangle" w="med" len="med"/>
            </a:ln>
          </p:spPr>
          <p:txBody>
            <a:bodyPr/>
            <a:lstStyle/>
            <a:p>
              <a:endParaRPr lang="en-US"/>
            </a:p>
          </p:txBody>
        </p:sp>
        <p:sp>
          <p:nvSpPr>
            <p:cNvPr id="7" name="Line 8"/>
            <p:cNvSpPr>
              <a:spLocks noChangeShapeType="1"/>
            </p:cNvSpPr>
            <p:nvPr/>
          </p:nvSpPr>
          <p:spPr bwMode="auto">
            <a:xfrm>
              <a:off x="4724400" y="1066800"/>
              <a:ext cx="457200" cy="0"/>
            </a:xfrm>
            <a:prstGeom prst="line">
              <a:avLst/>
            </a:prstGeom>
            <a:noFill/>
            <a:ln w="9525">
              <a:solidFill>
                <a:schemeClr val="tx1"/>
              </a:solidFill>
              <a:round/>
              <a:headEnd/>
              <a:tailEnd type="triangle" w="med" len="med"/>
            </a:ln>
          </p:spPr>
          <p:txBody>
            <a:bodyPr/>
            <a:lstStyle/>
            <a:p>
              <a:endParaRPr lang="en-US"/>
            </a:p>
          </p:txBody>
        </p:sp>
        <p:sp>
          <p:nvSpPr>
            <p:cNvPr id="8" name="Line 9"/>
            <p:cNvSpPr>
              <a:spLocks noChangeShapeType="1"/>
            </p:cNvSpPr>
            <p:nvPr/>
          </p:nvSpPr>
          <p:spPr bwMode="auto">
            <a:xfrm>
              <a:off x="4724400" y="1066800"/>
              <a:ext cx="457200" cy="685800"/>
            </a:xfrm>
            <a:prstGeom prst="line">
              <a:avLst/>
            </a:prstGeom>
            <a:noFill/>
            <a:ln w="9525">
              <a:solidFill>
                <a:schemeClr val="tx1"/>
              </a:solidFill>
              <a:round/>
              <a:headEnd/>
              <a:tailEnd type="triangle" w="med" len="med"/>
            </a:ln>
          </p:spPr>
          <p:txBody>
            <a:bodyPr/>
            <a:lstStyle/>
            <a:p>
              <a:endParaRPr lang="en-US"/>
            </a:p>
          </p:txBody>
        </p:sp>
        <p:sp>
          <p:nvSpPr>
            <p:cNvPr id="9" name="Text Box 11"/>
            <p:cNvSpPr txBox="1">
              <a:spLocks noChangeArrowheads="1"/>
            </p:cNvSpPr>
            <p:nvPr/>
          </p:nvSpPr>
          <p:spPr bwMode="auto">
            <a:xfrm>
              <a:off x="5181600" y="2133600"/>
              <a:ext cx="2057400" cy="366713"/>
            </a:xfrm>
            <a:prstGeom prst="rect">
              <a:avLst/>
            </a:prstGeom>
            <a:noFill/>
            <a:ln w="9525">
              <a:noFill/>
              <a:miter lim="800000"/>
              <a:headEnd/>
              <a:tailEnd/>
            </a:ln>
          </p:spPr>
          <p:txBody>
            <a:bodyPr>
              <a:spAutoFit/>
            </a:bodyPr>
            <a:lstStyle/>
            <a:p>
              <a:pPr algn="ctr">
                <a:spcBef>
                  <a:spcPct val="50000"/>
                </a:spcBef>
              </a:pPr>
              <a:r>
                <a:rPr lang="en-US"/>
                <a:t>Resources</a:t>
              </a:r>
            </a:p>
          </p:txBody>
        </p:sp>
      </p:grpSp>
      <p:sp>
        <p:nvSpPr>
          <p:cNvPr id="16" name="Rectangle 3"/>
          <p:cNvSpPr txBox="1">
            <a:spLocks/>
          </p:cNvSpPr>
          <p:nvPr/>
        </p:nvSpPr>
        <p:spPr>
          <a:xfrm>
            <a:off x="4648200" y="4267200"/>
            <a:ext cx="3733800" cy="1828800"/>
          </a:xfrm>
          <a:prstGeom prst="rect">
            <a:avLst/>
          </a:prstGeom>
        </p:spPr>
        <p:txBody>
          <a:bodyPr vert="horz">
            <a:normAutofit/>
          </a:bodyPr>
          <a:lstStyle/>
          <a:p>
            <a:pPr marL="274320" marR="0" lvl="0" indent="-274320" algn="l" defTabSz="914400" rtl="0" eaLnBrk="1" fontAlgn="auto" latinLnBrk="0" hangingPunct="1">
              <a:lnSpc>
                <a:spcPct val="90000"/>
              </a:lnSpc>
              <a:spcBef>
                <a:spcPct val="20000"/>
              </a:spcBef>
              <a:spcAft>
                <a:spcPts val="0"/>
              </a:spcAft>
              <a:buClr>
                <a:schemeClr val="accent3"/>
              </a:buClr>
              <a:buSzPct val="95000"/>
              <a:buFont typeface="Wingdings 2" pitchFamily="18" charset="2"/>
              <a:buNone/>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cs"/>
                <a:hlinkClick r:id="rId3"/>
              </a:rPr>
              <a:t>http://www.microsoft.com</a:t>
            </a:r>
            <a:endParaRPr kumimoji="0" lang="en-US" sz="1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ct val="20000"/>
              </a:spcBef>
              <a:spcAft>
                <a:spcPts val="0"/>
              </a:spcAft>
              <a:buClr>
                <a:schemeClr val="accent3"/>
              </a:buClr>
              <a:buSzPct val="95000"/>
              <a:buFont typeface="Wingdings 2" pitchFamily="18" charset="2"/>
              <a:buNone/>
              <a:tabLst/>
              <a:defRPr/>
            </a:pPr>
            <a:endParaRPr kumimoji="0" lang="en-US" sz="1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ct val="20000"/>
              </a:spcBef>
              <a:spcAft>
                <a:spcPts val="0"/>
              </a:spcAft>
              <a:buClr>
                <a:schemeClr val="accent3"/>
              </a:buClr>
              <a:buSzPct val="95000"/>
              <a:buFont typeface="Wingdings 2" pitchFamily="18" charset="2"/>
              <a:buNone/>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cs"/>
                <a:hlinkClick r:id="rId4"/>
              </a:rPr>
              <a:t>http://www.ibm.com</a:t>
            </a:r>
            <a:endParaRPr kumimoji="0" lang="en-US" sz="1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ct val="20000"/>
              </a:spcBef>
              <a:spcAft>
                <a:spcPts val="0"/>
              </a:spcAft>
              <a:buClr>
                <a:schemeClr val="accent3"/>
              </a:buClr>
              <a:buSzPct val="95000"/>
              <a:buFont typeface="Wingdings 2" pitchFamily="18" charset="2"/>
              <a:buNone/>
              <a:tabLst/>
              <a:defRPr/>
            </a:pPr>
            <a:endParaRPr kumimoji="0" lang="en-US" sz="18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90000"/>
              </a:lnSpc>
              <a:spcBef>
                <a:spcPct val="20000"/>
              </a:spcBef>
              <a:spcAft>
                <a:spcPts val="0"/>
              </a:spcAft>
              <a:buClr>
                <a:schemeClr val="accent3"/>
              </a:buClr>
              <a:buSzPct val="95000"/>
              <a:buFont typeface="Wingdings 2" pitchFamily="18" charset="2"/>
              <a:buNone/>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cs"/>
              </a:rPr>
              <a:t>http://www.netscape.com</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400800"/>
          </a:xfrm>
        </p:spPr>
        <p:txBody>
          <a:bodyPr>
            <a:normAutofit/>
          </a:bodyPr>
          <a:lstStyle/>
          <a:p>
            <a:pPr algn="just">
              <a:buNone/>
            </a:pPr>
            <a:r>
              <a:rPr lang="en-US" sz="2400" dirty="0" smtClean="0"/>
              <a:t>URL Registration</a:t>
            </a:r>
          </a:p>
          <a:p>
            <a:pPr algn="just"/>
            <a:r>
              <a:rPr lang="en-US" sz="2000" dirty="0" smtClean="0"/>
              <a:t>URL is the abbreviation of</a:t>
            </a:r>
            <a:r>
              <a:rPr lang="en-US" sz="2000" b="1" dirty="0" smtClean="0"/>
              <a:t> </a:t>
            </a:r>
            <a:r>
              <a:rPr lang="en-US" sz="2000" b="1" i="1" dirty="0" smtClean="0"/>
              <a:t>Uniform Resource Locator</a:t>
            </a:r>
            <a:r>
              <a:rPr lang="en-US" sz="2000" b="1" dirty="0" smtClean="0"/>
              <a:t>. </a:t>
            </a:r>
          </a:p>
          <a:p>
            <a:pPr algn="just"/>
            <a:r>
              <a:rPr lang="en-US" sz="2000" dirty="0" smtClean="0"/>
              <a:t>It is the </a:t>
            </a:r>
            <a:r>
              <a:rPr lang="en-US" sz="2000" b="1" dirty="0" smtClean="0"/>
              <a:t>global address of documents and other resources on the World Wide Web</a:t>
            </a:r>
            <a:r>
              <a:rPr lang="en-US" sz="2000" dirty="0" smtClean="0"/>
              <a:t>. For example, </a:t>
            </a:r>
            <a:r>
              <a:rPr lang="en-US" sz="2000" b="1" dirty="0" smtClean="0"/>
              <a:t>www.facebook.com, www.google.com</a:t>
            </a:r>
            <a:r>
              <a:rPr lang="en-US" sz="2000" dirty="0" smtClean="0"/>
              <a:t>. </a:t>
            </a:r>
          </a:p>
          <a:p>
            <a:pPr algn="just"/>
            <a:r>
              <a:rPr lang="en-US" sz="2000" dirty="0" smtClean="0"/>
              <a:t>A URL is one type of </a:t>
            </a:r>
            <a:r>
              <a:rPr lang="en-US" sz="2000" b="1" i="1" dirty="0" smtClean="0"/>
              <a:t>U</a:t>
            </a:r>
            <a:r>
              <a:rPr lang="en-US" sz="2000" i="1" dirty="0" smtClean="0"/>
              <a:t>niform </a:t>
            </a:r>
            <a:r>
              <a:rPr lang="en-US" sz="2000" b="1" i="1" dirty="0" smtClean="0"/>
              <a:t>R</a:t>
            </a:r>
            <a:r>
              <a:rPr lang="en-US" sz="2000" i="1" dirty="0" smtClean="0"/>
              <a:t>esource </a:t>
            </a:r>
            <a:r>
              <a:rPr lang="en-US" sz="2000" b="1" i="1" dirty="0" smtClean="0"/>
              <a:t>I</a:t>
            </a:r>
            <a:r>
              <a:rPr lang="en-US" sz="2000" i="1" dirty="0" smtClean="0"/>
              <a:t>dentifier (</a:t>
            </a:r>
            <a:r>
              <a:rPr lang="en-US" sz="2000" b="1" i="1" dirty="0" smtClean="0"/>
              <a:t>URI</a:t>
            </a:r>
            <a:r>
              <a:rPr lang="en-US" sz="2000" i="1" dirty="0" smtClean="0"/>
              <a:t>).</a:t>
            </a:r>
          </a:p>
          <a:p>
            <a:r>
              <a:rPr lang="en-US" sz="2000" dirty="0" smtClean="0"/>
              <a:t>URL strings consist of three parts </a:t>
            </a:r>
          </a:p>
          <a:p>
            <a:endParaRPr lang="en-US" sz="2000" dirty="0" smtClean="0"/>
          </a:p>
          <a:p>
            <a:pPr>
              <a:buFont typeface="Wingdings 2" pitchFamily="18" charset="2"/>
              <a:buNone/>
            </a:pPr>
            <a:r>
              <a:rPr lang="en-US" sz="2000" dirty="0" smtClean="0"/>
              <a:t>	1) Network Protocol (URL protocol)</a:t>
            </a:r>
          </a:p>
          <a:p>
            <a:pPr>
              <a:buFont typeface="Wingdings 2" pitchFamily="18" charset="2"/>
              <a:buNone/>
            </a:pPr>
            <a:r>
              <a:rPr lang="en-US" sz="2000" dirty="0" smtClean="0"/>
              <a:t>	2) Host name or address (IP address or Domain Name) www.yahoo.com</a:t>
            </a:r>
          </a:p>
          <a:p>
            <a:pPr>
              <a:buFont typeface="Wingdings 2" pitchFamily="18" charset="2"/>
              <a:buNone/>
            </a:pPr>
            <a:r>
              <a:rPr lang="en-US" sz="2000" dirty="0" smtClean="0"/>
              <a:t>	3) File or resource location</a:t>
            </a:r>
          </a:p>
          <a:p>
            <a:pPr>
              <a:buFont typeface="Wingdings 2" pitchFamily="18" charset="2"/>
              <a:buNone/>
            </a:pPr>
            <a:r>
              <a:rPr lang="en-US" sz="2000" b="1" dirty="0" smtClean="0"/>
              <a:t>Syntax : </a:t>
            </a:r>
            <a:r>
              <a:rPr lang="en-US" sz="2000" dirty="0" smtClean="0"/>
              <a:t>protocol :// host / location</a:t>
            </a:r>
          </a:p>
          <a:p>
            <a:pPr>
              <a:buFont typeface="Wingdings 2" pitchFamily="18" charset="2"/>
              <a:buNone/>
            </a:pPr>
            <a:r>
              <a:rPr lang="en-US" sz="2000" dirty="0" smtClean="0"/>
              <a:t>e.g. </a:t>
            </a:r>
          </a:p>
          <a:p>
            <a:pPr>
              <a:buFont typeface="Wingdings 2" pitchFamily="18" charset="2"/>
              <a:buNone/>
            </a:pPr>
            <a:r>
              <a:rPr lang="en-US" sz="2000" b="1" dirty="0" smtClean="0"/>
              <a:t>      1			2				3</a:t>
            </a:r>
          </a:p>
          <a:p>
            <a:pPr>
              <a:buFont typeface="Wingdings 2" pitchFamily="18" charset="2"/>
              <a:buNone/>
            </a:pPr>
            <a:r>
              <a:rPr lang="en-US" sz="2000" b="1" dirty="0" smtClean="0"/>
              <a:t>https:</a:t>
            </a:r>
            <a:r>
              <a:rPr lang="en-US" sz="2000" dirty="0" smtClean="0"/>
              <a:t>//</a:t>
            </a:r>
            <a:r>
              <a:rPr lang="en-US" sz="2000" b="1" u="sng" dirty="0" smtClean="0"/>
              <a:t>www.tutorialspoint.com</a:t>
            </a:r>
            <a:r>
              <a:rPr lang="en-US" sz="2000" dirty="0" smtClean="0"/>
              <a:t>/</a:t>
            </a:r>
            <a:r>
              <a:rPr lang="en-US" sz="2000" i="1" dirty="0" smtClean="0">
                <a:solidFill>
                  <a:srgbClr val="FF0000"/>
                </a:solidFill>
              </a:rPr>
              <a:t>internet_technologies</a:t>
            </a:r>
            <a:r>
              <a:rPr lang="en-US" sz="2000" dirty="0" smtClean="0"/>
              <a:t>/</a:t>
            </a:r>
            <a:r>
              <a:rPr lang="en-US" sz="2000" i="1" dirty="0" smtClean="0">
                <a:solidFill>
                  <a:srgbClr val="FF0000"/>
                </a:solidFill>
              </a:rPr>
              <a:t>website_url_registration.htm</a:t>
            </a:r>
          </a:p>
          <a:p>
            <a:pPr algn="just"/>
            <a:endParaRPr lang="en-US" sz="2000" dirty="0" smtClean="0"/>
          </a:p>
          <a:p>
            <a:pPr algn="just"/>
            <a:endParaRPr lang="en-US" sz="2000" dirty="0"/>
          </a:p>
        </p:txBody>
      </p:sp>
      <p:cxnSp>
        <p:nvCxnSpPr>
          <p:cNvPr id="5" name="Straight Arrow Connector 4"/>
          <p:cNvCxnSpPr/>
          <p:nvPr/>
        </p:nvCxnSpPr>
        <p:spPr>
          <a:xfrm rot="16200000" flipH="1">
            <a:off x="876300" y="5295900"/>
            <a:ext cx="152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rot="5400000">
            <a:off x="3048000" y="5257800"/>
            <a:ext cx="2286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flipV="1">
            <a:off x="6248400" y="5181600"/>
            <a:ext cx="6096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04800"/>
            <a:ext cx="8229600" cy="6019800"/>
          </a:xfrm>
        </p:spPr>
        <p:txBody>
          <a:bodyPr>
            <a:normAutofit/>
          </a:bodyPr>
          <a:lstStyle/>
          <a:p>
            <a:pPr algn="just">
              <a:buNone/>
            </a:pPr>
            <a:endParaRPr lang="en-US" sz="2000" b="1" u="sng" dirty="0" smtClean="0"/>
          </a:p>
          <a:p>
            <a:pPr algn="just">
              <a:buNone/>
            </a:pPr>
            <a:endParaRPr lang="en-US" sz="2000" dirty="0" smtClean="0"/>
          </a:p>
          <a:p>
            <a:pPr algn="just"/>
            <a:endParaRPr lang="en-US" sz="2000" dirty="0" smtClean="0"/>
          </a:p>
          <a:p>
            <a:pPr algn="just"/>
            <a:endParaRPr lang="en-US" sz="2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about URL</a:t>
            </a:r>
            <a:endParaRPr lang="en-US" dirty="0"/>
          </a:p>
        </p:txBody>
      </p:sp>
      <p:sp>
        <p:nvSpPr>
          <p:cNvPr id="3" name="Content Placeholder 2"/>
          <p:cNvSpPr>
            <a:spLocks noGrp="1"/>
          </p:cNvSpPr>
          <p:nvPr>
            <p:ph sz="quarter" idx="1"/>
          </p:nvPr>
        </p:nvSpPr>
        <p:spPr/>
        <p:txBody>
          <a:bodyPr>
            <a:normAutofit/>
          </a:bodyPr>
          <a:lstStyle/>
          <a:p>
            <a:r>
              <a:rPr lang="en-US" sz="2000" dirty="0" smtClean="0">
                <a:hlinkClick r:id="rId2"/>
              </a:rPr>
              <a:t>http://www.webopedia.com/TERM/U/URL.html</a:t>
            </a:r>
            <a:endParaRPr lang="en-US" sz="2000" dirty="0" smtClean="0"/>
          </a:p>
          <a:p>
            <a:r>
              <a:rPr lang="en-US" sz="2000" dirty="0" smtClean="0">
                <a:hlinkClick r:id="rId3"/>
              </a:rPr>
              <a:t>http://searchnetworking.techtarget.com/definition/URL</a:t>
            </a:r>
            <a:endParaRPr lang="en-US" sz="2000" dirty="0" smtClean="0"/>
          </a:p>
          <a:p>
            <a:r>
              <a:rPr lang="en-US" sz="2000" dirty="0" smtClean="0">
                <a:hlinkClick r:id="rId4"/>
              </a:rPr>
              <a:t>https://www.lifewire.com/definition-of-uniform-resource-locator-817778</a:t>
            </a:r>
            <a:endParaRPr lang="en-US" sz="2000" dirty="0" smtClean="0"/>
          </a:p>
          <a:p>
            <a:r>
              <a:rPr lang="en-US" sz="2000" dirty="0" smtClean="0">
                <a:hlinkClick r:id="rId5"/>
              </a:rPr>
              <a:t>http://www.wikihow.com/Register-a-Domain-Name</a:t>
            </a:r>
            <a:endParaRPr lang="en-US" sz="2000" dirty="0" smtClean="0"/>
          </a:p>
          <a:p>
            <a:r>
              <a:rPr lang="en-US" sz="2000" dirty="0" smtClean="0">
                <a:hlinkClick r:id="rId6"/>
              </a:rPr>
              <a:t>http://www.smarta.com/advice/web/business-websites/how-to-register-a-domain-name/</a:t>
            </a:r>
            <a:endParaRPr lang="en-US" sz="2000" dirty="0" smtClean="0"/>
          </a:p>
          <a:p>
            <a:endParaRPr lang="en-US" sz="2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096000"/>
          </a:xfrm>
        </p:spPr>
        <p:txBody>
          <a:bodyPr>
            <a:normAutofit/>
          </a:bodyPr>
          <a:lstStyle/>
          <a:p>
            <a:pPr>
              <a:buNone/>
            </a:pPr>
            <a:r>
              <a:rPr lang="en-US" sz="2400" b="1" u="sng" dirty="0" smtClean="0"/>
              <a:t>Web Browser</a:t>
            </a:r>
          </a:p>
          <a:p>
            <a:pPr algn="just"/>
            <a:r>
              <a:rPr lang="en-US" sz="2000" dirty="0" smtClean="0"/>
              <a:t>A web browser is a software application that people use in order to view web pages on the internet. </a:t>
            </a:r>
          </a:p>
          <a:p>
            <a:pPr algn="just"/>
            <a:r>
              <a:rPr lang="en-US" sz="2000" dirty="0" smtClean="0"/>
              <a:t>It can be used to upload or download files on FTP servers. </a:t>
            </a:r>
          </a:p>
          <a:p>
            <a:pPr algn="just"/>
            <a:r>
              <a:rPr lang="en-US" sz="2000" dirty="0" smtClean="0"/>
              <a:t>It uses security methods such as SSL and TLS to secure internet traffic.</a:t>
            </a:r>
          </a:p>
          <a:p>
            <a:pPr algn="just"/>
            <a:r>
              <a:rPr lang="en-US" sz="2000" dirty="0" smtClean="0"/>
              <a:t>As a client/server model, the browser is the client run on a computer that contacts the Web server and requests information. The Web server sends the information back to the Web browser which displays the results on the computer.</a:t>
            </a:r>
          </a:p>
          <a:p>
            <a:pPr algn="just"/>
            <a:r>
              <a:rPr lang="en-US" sz="2000" dirty="0" smtClean="0"/>
              <a:t>The most popular web browsers that are used today are Mozilla Firefox, Google Chrome, Microsoft Internet Explorer, Apple Safari and the Opera browser.</a:t>
            </a:r>
          </a:p>
          <a:p>
            <a:pPr algn="just"/>
            <a:r>
              <a:rPr lang="en-US" sz="2000" dirty="0" smtClean="0"/>
              <a:t>For example, if you were to visit </a:t>
            </a:r>
            <a:r>
              <a:rPr lang="en-US" sz="2000" i="1" dirty="0" smtClean="0"/>
              <a:t>www.google.com</a:t>
            </a:r>
            <a:r>
              <a:rPr lang="en-US" sz="2000" dirty="0" smtClean="0"/>
              <a:t>, you are actually viewing a file that is displayed using the web browser. This file is drafted using the hyper text markup language, or </a:t>
            </a:r>
            <a:r>
              <a:rPr lang="en-US" sz="2000" b="1" dirty="0" smtClean="0"/>
              <a:t>HTML</a:t>
            </a:r>
            <a:r>
              <a:rPr lang="en-US" sz="2000" dirty="0" smtClean="0"/>
              <a:t> for short. </a:t>
            </a:r>
          </a:p>
          <a:p>
            <a:pPr algn="just"/>
            <a:r>
              <a:rPr lang="en-US" sz="2000" dirty="0" smtClean="0"/>
              <a:t>The two most popular browsers are Microsoft Internet Explorer and Firefox. Other major browsers include Google Chrome, Apple Safari and Opera.</a:t>
            </a:r>
          </a:p>
          <a:p>
            <a:pPr algn="just"/>
            <a:endParaRPr lang="en-US"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quarter" idx="1"/>
          </p:nvPr>
        </p:nvPicPr>
        <p:blipFill>
          <a:blip r:embed="rId2" cstate="print"/>
          <a:srcRect l="6600" t="2785" r="71700" b="60759"/>
          <a:stretch>
            <a:fillRect/>
          </a:stretch>
        </p:blipFill>
        <p:spPr bwMode="auto">
          <a:xfrm>
            <a:off x="381000" y="609600"/>
            <a:ext cx="3810000" cy="46482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l="7778" t="7333" r="63174" b="33111"/>
          <a:stretch>
            <a:fillRect/>
          </a:stretch>
        </p:blipFill>
        <p:spPr bwMode="auto">
          <a:xfrm>
            <a:off x="4191000" y="228600"/>
            <a:ext cx="4724400" cy="5867400"/>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096000"/>
          </a:xfrm>
        </p:spPr>
        <p:txBody>
          <a:bodyPr>
            <a:normAutofit/>
          </a:bodyPr>
          <a:lstStyle/>
          <a:p>
            <a:pPr algn="just">
              <a:buNone/>
            </a:pPr>
            <a:r>
              <a:rPr lang="en-US" sz="2400" dirty="0" smtClean="0"/>
              <a:t>Web Server</a:t>
            </a:r>
          </a:p>
          <a:p>
            <a:pPr algn="just">
              <a:buNone/>
            </a:pPr>
            <a:endParaRPr lang="en-US" sz="2400" dirty="0" smtClean="0"/>
          </a:p>
          <a:p>
            <a:pPr algn="just"/>
            <a:r>
              <a:rPr lang="en-US" sz="2000" dirty="0" smtClean="0"/>
              <a:t>A Web server is a computer that is set up with </a:t>
            </a:r>
            <a:r>
              <a:rPr lang="en-US" sz="2000" b="1" dirty="0" smtClean="0"/>
              <a:t>software and networking capabilities to deliver Web pages on the Internet or an Intranet</a:t>
            </a:r>
            <a:r>
              <a:rPr lang="en-US" sz="2000" dirty="0" smtClean="0"/>
              <a:t>.</a:t>
            </a:r>
          </a:p>
          <a:p>
            <a:pPr algn="just"/>
            <a:endParaRPr lang="en-US" sz="2000" dirty="0" smtClean="0"/>
          </a:p>
          <a:p>
            <a:pPr algn="just"/>
            <a:r>
              <a:rPr lang="en-US" sz="2000" dirty="0" smtClean="0"/>
              <a:t> Web servers use programs such as Apache or IIS(Internet Information Server) to deliver Web pages over the http protocol.</a:t>
            </a:r>
          </a:p>
          <a:p>
            <a:pPr algn="just"/>
            <a:r>
              <a:rPr lang="en-IN" sz="2000" dirty="0" smtClean="0"/>
              <a:t>Apache is HTTP web </a:t>
            </a:r>
            <a:r>
              <a:rPr lang="en-IN" sz="2000" smtClean="0"/>
              <a:t>server which is </a:t>
            </a:r>
            <a:r>
              <a:rPr lang="en-IN" sz="2000" dirty="0" smtClean="0"/>
              <a:t>a </a:t>
            </a:r>
            <a:r>
              <a:rPr lang="en-IN" sz="2000" u="sng" dirty="0" smtClean="0">
                <a:hlinkClick r:id="rId2"/>
              </a:rPr>
              <a:t>free and open-source</a:t>
            </a:r>
            <a:r>
              <a:rPr lang="en-IN" sz="2000" dirty="0" smtClean="0"/>
              <a:t> </a:t>
            </a:r>
            <a:r>
              <a:rPr lang="en-IN" sz="2000" dirty="0" smtClean="0">
                <a:hlinkClick r:id="rId3" tooltip="Cross-platform"/>
              </a:rPr>
              <a:t>cross-platform</a:t>
            </a:r>
            <a:r>
              <a:rPr lang="en-IN" sz="2000" dirty="0" smtClean="0"/>
              <a:t> </a:t>
            </a:r>
            <a:r>
              <a:rPr lang="en-IN" sz="2000" dirty="0" smtClean="0">
                <a:hlinkClick r:id="rId4" tooltip="Web server"/>
              </a:rPr>
              <a:t>web server</a:t>
            </a:r>
            <a:r>
              <a:rPr lang="en-IN" sz="2000" dirty="0" smtClean="0"/>
              <a:t>,</a:t>
            </a:r>
            <a:endParaRPr lang="en-US" sz="2000" dirty="0" smtClean="0"/>
          </a:p>
          <a:p>
            <a:pPr algn="just"/>
            <a:r>
              <a:rPr lang="en-US" sz="2000" dirty="0" smtClean="0"/>
              <a:t>The primary function of a web server is to store, process and deliver web pages to clients. </a:t>
            </a:r>
          </a:p>
          <a:p>
            <a:pPr algn="just"/>
            <a:r>
              <a:rPr lang="en-US" sz="2000" dirty="0" smtClean="0"/>
              <a:t>The communication between client and server takes place using the Hypertext Transfer Protocol (HTTP). Pages delivered are most frequently HTML documents, which may include images, style sheets and scripts in addition to text content.</a:t>
            </a:r>
          </a:p>
          <a:p>
            <a:pPr algn="just"/>
            <a:endParaRPr lang="en-US" sz="2000" dirty="0" smtClean="0"/>
          </a:p>
          <a:p>
            <a:pPr algn="just"/>
            <a:endParaRPr lang="en-US" sz="2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US" sz="2800" dirty="0" smtClean="0"/>
              <a:t>A single web server may support multiple websites.</a:t>
            </a:r>
          </a:p>
          <a:p>
            <a:endParaRPr lang="en-US" sz="2800" dirty="0" smtClean="0"/>
          </a:p>
          <a:p>
            <a:r>
              <a:rPr lang="en-US" sz="2800" dirty="0" smtClean="0"/>
              <a:t>Any computer can be used as a Web server, as long as it is connected to the Internet and has the appropriate software</a:t>
            </a:r>
            <a:r>
              <a:rPr lang="en-US" sz="2800" smtClean="0"/>
              <a:t> installed.</a:t>
            </a:r>
            <a:endParaRPr lang="en-I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324600"/>
          </a:xfrm>
        </p:spPr>
        <p:txBody>
          <a:bodyPr>
            <a:normAutofit/>
          </a:bodyPr>
          <a:lstStyle/>
          <a:p>
            <a:pPr algn="just"/>
            <a:endParaRPr lang="en-US" sz="2000" dirty="0" smtClean="0"/>
          </a:p>
          <a:p>
            <a:pPr algn="just"/>
            <a:r>
              <a:rPr lang="en-US" sz="2000" dirty="0" smtClean="0"/>
              <a:t>Any computer can be used as a Web server, as long as it is connected to the Internet and has the appropriate software installed. </a:t>
            </a:r>
          </a:p>
          <a:p>
            <a:pPr algn="just"/>
            <a:r>
              <a:rPr lang="en-US" sz="2000" b="1" dirty="0" smtClean="0"/>
              <a:t>Web server is a program that uses HTTP to serve files that create web pages to users in response to their requests, which are forwarded by their computers HTTP connection.</a:t>
            </a:r>
          </a:p>
          <a:p>
            <a:pPr algn="just">
              <a:buNone/>
            </a:pPr>
            <a:r>
              <a:rPr lang="en-US" sz="2000" b="1" u="sng" dirty="0" smtClean="0"/>
              <a:t>For about web server  and web browser </a:t>
            </a:r>
          </a:p>
          <a:p>
            <a:pPr>
              <a:buNone/>
            </a:pPr>
            <a:r>
              <a:rPr lang="en-US" sz="2000" dirty="0" smtClean="0">
                <a:hlinkClick r:id="rId2"/>
              </a:rPr>
              <a:t>http://www.webopedia.com/TERM/B/browser.html</a:t>
            </a:r>
            <a:endParaRPr lang="en-US" sz="2000" dirty="0" smtClean="0"/>
          </a:p>
          <a:p>
            <a:pPr>
              <a:buNone/>
            </a:pPr>
            <a:r>
              <a:rPr lang="en-US" sz="2000" dirty="0" smtClean="0">
                <a:hlinkClick r:id="rId3"/>
              </a:rPr>
              <a:t>https://en.wikipedia.org/wiki/Web_browser</a:t>
            </a:r>
            <a:endParaRPr lang="en-US" sz="2000" dirty="0" smtClean="0"/>
          </a:p>
          <a:p>
            <a:pPr>
              <a:buNone/>
            </a:pPr>
            <a:r>
              <a:rPr lang="en-US" sz="2000" dirty="0" smtClean="0">
                <a:hlinkClick r:id="rId4"/>
              </a:rPr>
              <a:t>http://study.com/academy/lesson/what-is-a-web-browser-definition-examples-quiz.html</a:t>
            </a:r>
            <a:endParaRPr lang="en-US" sz="2000" dirty="0" smtClean="0"/>
          </a:p>
          <a:p>
            <a:pPr>
              <a:buNone/>
            </a:pPr>
            <a:r>
              <a:rPr lang="en-US" sz="2000" dirty="0" smtClean="0">
                <a:hlinkClick r:id="rId5"/>
              </a:rPr>
              <a:t>http://www.fastwebhost.in/blog/what-is-web-servers-different-types-of-web-servers/</a:t>
            </a:r>
            <a:endParaRPr lang="en-US" sz="2000" dirty="0" smtClean="0"/>
          </a:p>
          <a:p>
            <a:pPr>
              <a:buNone/>
            </a:pPr>
            <a:r>
              <a:rPr lang="en-US" sz="2000" dirty="0" smtClean="0">
                <a:hlinkClick r:id="rId6"/>
              </a:rPr>
              <a:t>https://en.wikipedia.org/wiki/Web_server</a:t>
            </a:r>
            <a:endParaRPr lang="en-US" sz="2000" dirty="0" smtClean="0"/>
          </a:p>
          <a:p>
            <a:pPr>
              <a:buNone/>
            </a:pPr>
            <a:endParaRPr lang="en-US" sz="2000" dirty="0" smtClean="0"/>
          </a:p>
          <a:p>
            <a:pPr algn="just">
              <a:buNone/>
            </a:pPr>
            <a:endParaRPr lang="en-US" sz="2000" b="1"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buNone/>
            </a:pPr>
            <a:endParaRPr lang="en-US" dirty="0" smtClean="0"/>
          </a:p>
          <a:p>
            <a:pPr>
              <a:buNone/>
            </a:pPr>
            <a:endParaRPr lang="en-US" dirty="0" smtClean="0"/>
          </a:p>
          <a:p>
            <a:pPr>
              <a:buNone/>
            </a:pPr>
            <a:endParaRPr lang="en-US" dirty="0" smtClean="0"/>
          </a:p>
          <a:p>
            <a:pPr>
              <a:buNone/>
            </a:pPr>
            <a:endParaRPr lang="en-US" dirty="0" smtClean="0"/>
          </a:p>
          <a:p>
            <a:pPr algn="ctr">
              <a:buNone/>
            </a:pPr>
            <a:r>
              <a:rPr lang="en-US" sz="4000" dirty="0" smtClean="0"/>
              <a:t>Thank You.</a:t>
            </a:r>
            <a:endParaRPr lang="en-US" sz="40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2835</TotalTime>
  <Words>3187</Words>
  <Application>Microsoft Office PowerPoint</Application>
  <PresentationFormat>On-screen Show (4:3)</PresentationFormat>
  <Paragraphs>479</Paragraphs>
  <Slides>80</Slides>
  <Notes>0</Notes>
  <HiddenSlides>0</HiddenSlides>
  <MMClips>0</MMClips>
  <ScaleCrop>false</ScaleCrop>
  <HeadingPairs>
    <vt:vector size="4" baseType="variant">
      <vt:variant>
        <vt:lpstr>Theme</vt:lpstr>
      </vt:variant>
      <vt:variant>
        <vt:i4>1</vt:i4>
      </vt:variant>
      <vt:variant>
        <vt:lpstr>Slide Titles</vt:lpstr>
      </vt:variant>
      <vt:variant>
        <vt:i4>80</vt:i4>
      </vt:variant>
    </vt:vector>
  </HeadingPairs>
  <TitlesOfParts>
    <vt:vector size="81" baseType="lpstr">
      <vt:lpstr>Equity</vt:lpstr>
      <vt:lpstr>Unit 1 Internet and WWW</vt:lpstr>
      <vt:lpstr>Slide 2</vt:lpstr>
      <vt:lpstr>Slide 3</vt:lpstr>
      <vt:lpstr>Slide 4</vt:lpstr>
      <vt:lpstr>Slide 5</vt:lpstr>
      <vt:lpstr>Some attributes</vt:lpstr>
      <vt:lpstr>Slide 7</vt:lpstr>
      <vt:lpstr>Slide 8</vt:lpstr>
      <vt:lpstr>Slide 9</vt:lpstr>
      <vt:lpstr>Slide 10</vt:lpstr>
      <vt:lpstr>Slide 11</vt:lpstr>
      <vt:lpstr>Slide 12</vt:lpstr>
      <vt:lpstr>Slide 13</vt:lpstr>
      <vt:lpstr>Advantage of Internet</vt:lpstr>
      <vt:lpstr>Advantage of Internet</vt:lpstr>
      <vt:lpstr>Slide 16</vt:lpstr>
      <vt:lpstr>  Disadvantage of Internet</vt:lpstr>
      <vt:lpstr>Slide 18</vt:lpstr>
      <vt:lpstr>Slide 19</vt:lpstr>
      <vt:lpstr>Disadvantage</vt:lpstr>
      <vt:lpstr>Slide 21</vt:lpstr>
      <vt:lpstr>Slide 22</vt:lpstr>
      <vt:lpstr>Slide 23</vt:lpstr>
      <vt:lpstr>Slide 24</vt:lpstr>
      <vt:lpstr>Slide 25</vt:lpstr>
      <vt:lpstr>Slide 26</vt:lpstr>
      <vt:lpstr>Email: Electronic Mail</vt:lpstr>
      <vt:lpstr>Slide 28</vt:lpstr>
      <vt:lpstr>Email Address</vt:lpstr>
      <vt:lpstr>Slide 30</vt:lpstr>
      <vt:lpstr>Slide 31</vt:lpstr>
      <vt:lpstr>CC and BCC</vt:lpstr>
      <vt:lpstr>Slide 33</vt:lpstr>
      <vt:lpstr>Slide 34</vt:lpstr>
      <vt:lpstr>   SMTP Protocol:  SMTP is a set of rules defining how mail should be sent out and forwarded through the internet to its destination address.</vt:lpstr>
      <vt:lpstr>POP3 Protocol : </vt:lpstr>
      <vt:lpstr>Slide 37</vt:lpstr>
      <vt:lpstr>How Protocol Works:</vt:lpstr>
      <vt:lpstr>TELNET protocol</vt:lpstr>
      <vt:lpstr>Slide 40</vt:lpstr>
      <vt:lpstr>      How telnet works?</vt:lpstr>
      <vt:lpstr>Slide 42</vt:lpstr>
      <vt:lpstr>Slide 43</vt:lpstr>
      <vt:lpstr>Slide 44</vt:lpstr>
      <vt:lpstr>Slide 45</vt:lpstr>
      <vt:lpstr>Slide 46</vt:lpstr>
      <vt:lpstr>Slide 47</vt:lpstr>
      <vt:lpstr>FTP : File Transfer Protocol</vt:lpstr>
      <vt:lpstr>Slide 49</vt:lpstr>
      <vt:lpstr>   How it works?</vt:lpstr>
      <vt:lpstr>Slide 51</vt:lpstr>
      <vt:lpstr>Slide 52</vt:lpstr>
      <vt:lpstr>Difference between TELNET &amp; FTP</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More about URL</vt:lpstr>
      <vt:lpstr>Slide 75</vt:lpstr>
      <vt:lpstr>Slide 76</vt:lpstr>
      <vt:lpstr>Slide 77</vt:lpstr>
      <vt:lpstr>Slide 78</vt:lpstr>
      <vt:lpstr>Slide 79</vt:lpstr>
      <vt:lpstr>Slide 80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Internet and WWW</dc:title>
  <dc:creator>Parul</dc:creator>
  <cp:lastModifiedBy>HP</cp:lastModifiedBy>
  <cp:revision>303</cp:revision>
  <dcterms:created xsi:type="dcterms:W3CDTF">2017-06-13T05:32:01Z</dcterms:created>
  <dcterms:modified xsi:type="dcterms:W3CDTF">2024-01-17T03:36:26Z</dcterms:modified>
</cp:coreProperties>
</file>